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Helvetica Neue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3soNRyJOt/2G5YF/5pGIK/j9n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font" Target="fonts/HelveticaNeue-regular.fntdata"/><Relationship Id="rId10" Type="http://schemas.openxmlformats.org/officeDocument/2006/relationships/slide" Target="slides/slide6.xml"/><Relationship Id="rId13" Type="http://schemas.openxmlformats.org/officeDocument/2006/relationships/font" Target="fonts/HelveticaNeue-italic.fntdata"/><Relationship Id="rId12" Type="http://schemas.openxmlformats.org/officeDocument/2006/relationships/font" Target="fonts/HelveticaNeue-bold.fntdata"/><Relationship Id="rId15" Type="http://customschemas.google.com/relationships/presentationmetadata" Target="metadata"/><Relationship Id="rId14" Type="http://schemas.openxmlformats.org/officeDocument/2006/relationships/font" Target="fonts/HelveticaNeue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A working system, not a concept: live risk for 311 hotspots in all 8 NER states, validated against 318 real landslides.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Open with the money: one landslide cost NHPC ₹327 crore at Teesta-V in Sikkim. Then show this runs today.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The IoT node is a demo unit, clearly labelled Phase 2. The satellite model runs without it.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Lead the IIT Mandi point with respect — they proved the hardware. We add the regional satellite layer they cannot.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Every landslide in the left chart really happened; the model scored them without ever seeing them in training.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Close on scope honesty. It reads as rigour and pre-empts the 'is this actually built?' question.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478978" y="6232198"/>
            <a:ext cx="258623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8478978" y="6232198"/>
            <a:ext cx="258623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nrsc.gov.in/nrscnew/resources_atlas_landslide.php" TargetMode="External"/><Relationship Id="rId22" Type="http://schemas.openxmlformats.org/officeDocument/2006/relationships/hyperlink" Target="https://smap.jpl.nasa.gov/" TargetMode="External"/><Relationship Id="rId21" Type="http://schemas.openxmlformats.org/officeDocument/2006/relationships/hyperlink" Target="https://gpm.nasa.gov/data/imerg" TargetMode="External"/><Relationship Id="rId24" Type="http://schemas.openxmlformats.org/officeDocument/2006/relationships/hyperlink" Target="https://www.openstreetmap.org/copyright" TargetMode="External"/><Relationship Id="rId23" Type="http://schemas.openxmlformats.org/officeDocument/2006/relationships/hyperlink" Target="https://sentiwiki.copernicus.eu/web/s1-mission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gpm.nasa.gov/data/imerg" TargetMode="External"/><Relationship Id="rId9" Type="http://schemas.openxmlformats.org/officeDocument/2006/relationships/hyperlink" Target="https://sentiwiki.copernicus.eu/web/s1-mission" TargetMode="External"/><Relationship Id="rId25" Type="http://schemas.openxmlformats.org/officeDocument/2006/relationships/hyperlink" Target="https://www.indiatodayne.in/sikkim/story/sikkim-landslide-caused-rs-327-crore-loss-to-teesta-v-project-nhpc-1109891-2024-10-23" TargetMode="External"/><Relationship Id="rId5" Type="http://schemas.openxmlformats.org/officeDocument/2006/relationships/hyperlink" Target="https://gpm.nasa.gov/data/imerg" TargetMode="External"/><Relationship Id="rId6" Type="http://schemas.openxmlformats.org/officeDocument/2006/relationships/hyperlink" Target="https://smap.jpl.nasa.gov/" TargetMode="External"/><Relationship Id="rId7" Type="http://schemas.openxmlformats.org/officeDocument/2006/relationships/hyperlink" Target="https://smap.jpl.nasa.gov/" TargetMode="External"/><Relationship Id="rId8" Type="http://schemas.openxmlformats.org/officeDocument/2006/relationships/hyperlink" Target="https://sentiwiki.copernicus.eu/web/s1-mission" TargetMode="External"/><Relationship Id="rId11" Type="http://schemas.openxmlformats.org/officeDocument/2006/relationships/hyperlink" Target="https://www.openstreetmap.org/copyright" TargetMode="External"/><Relationship Id="rId10" Type="http://schemas.openxmlformats.org/officeDocument/2006/relationships/hyperlink" Target="https://www.openstreetmap.org/copyright" TargetMode="External"/><Relationship Id="rId13" Type="http://schemas.openxmlformats.org/officeDocument/2006/relationships/hyperlink" Target="https://www.indiatodayne.in/sikkim/story/sikkim-landslide-caused-rs-327-crore-loss-to-teesta-v-project-nhpc-1109891-2024-10-23" TargetMode="External"/><Relationship Id="rId12" Type="http://schemas.openxmlformats.org/officeDocument/2006/relationships/hyperlink" Target="https://www.indiatodayne.in/sikkim/story/sikkim-landslide-caused-rs-327-crore-loss-to-teesta-v-project-nhpc-1109891-2024-10-23" TargetMode="External"/><Relationship Id="rId15" Type="http://schemas.openxmlformats.org/officeDocument/2006/relationships/image" Target="../media/image12.png"/><Relationship Id="rId14" Type="http://schemas.openxmlformats.org/officeDocument/2006/relationships/image" Target="../media/image6.png"/><Relationship Id="rId17" Type="http://schemas.openxmlformats.org/officeDocument/2006/relationships/hyperlink" Target="https://www.usgs.gov/programs/landslide-hazards" TargetMode="External"/><Relationship Id="rId16" Type="http://schemas.openxmlformats.org/officeDocument/2006/relationships/hyperlink" Target="https://gpm.nasa.gov/landslides/projects.html" TargetMode="External"/><Relationship Id="rId19" Type="http://schemas.openxmlformats.org/officeDocument/2006/relationships/hyperlink" Target="https://bhukosh.gsi.gov.in/Bhukosh/Public" TargetMode="External"/><Relationship Id="rId18" Type="http://schemas.openxmlformats.org/officeDocument/2006/relationships/hyperlink" Target="https://frontiertech.niti.gov.in/story/how-iit-mandis-ai-predicts-landslides-hours-before-they-hit-the-himalaya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"/>
          <p:cNvSpPr/>
          <p:nvPr/>
        </p:nvSpPr>
        <p:spPr>
          <a:xfrm rot="5400000">
            <a:off x="5660135" y="850392"/>
            <a:ext cx="4636010" cy="5157215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5400" y="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5400" y="21600"/>
                </a:lnTo>
                <a:close/>
              </a:path>
            </a:pathLst>
          </a:cu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0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719072"/>
            <a:ext cx="3200400" cy="34290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1" id="17" name="Google Shape;1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4080" y="0"/>
            <a:ext cx="2249426" cy="106070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 txBox="1"/>
          <p:nvPr/>
        </p:nvSpPr>
        <p:spPr>
          <a:xfrm>
            <a:off x="329182" y="187827"/>
            <a:ext cx="10360156" cy="575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000"/>
              <a:buFont typeface="Times New Roman"/>
              <a:buNone/>
            </a:pPr>
            <a:r>
              <a:rPr b="1" i="0" lang="en-US" sz="4000" u="none" cap="none" strike="noStrik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INDIA HACKATHON 2026</a:t>
            </a:r>
            <a:endParaRPr/>
          </a:p>
        </p:txBody>
      </p:sp>
      <p:sp>
        <p:nvSpPr>
          <p:cNvPr id="19" name="Google Shape;19;p1"/>
          <p:cNvSpPr txBox="1"/>
          <p:nvPr/>
        </p:nvSpPr>
        <p:spPr>
          <a:xfrm>
            <a:off x="1243583" y="1038792"/>
            <a:ext cx="8531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329175" y="1634875"/>
            <a:ext cx="6475800" cy="3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6700" lvl="0" marL="228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ID – </a:t>
            </a:r>
            <a:r>
              <a:rPr b="1" i="0" lang="en-US" sz="21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SIH26001</a:t>
            </a:r>
            <a:endParaRPr sz="2000"/>
          </a:p>
          <a:p>
            <a:pPr indent="-266700" lvl="0" marL="228600" marR="0" rtl="0" algn="l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Title- </a:t>
            </a:r>
            <a:r>
              <a:rPr b="1" i="0" lang="en-US" sz="20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AI-Based Early Warning and Landslide Risk Monitoring System in NER</a:t>
            </a:r>
            <a:endParaRPr sz="1900"/>
          </a:p>
          <a:p>
            <a:pPr indent="-266700" lvl="0" marL="228600" marR="0" rtl="0" algn="l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Theme- </a:t>
            </a:r>
            <a:r>
              <a:rPr b="1" i="0" lang="en-US" sz="21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Disaster Management</a:t>
            </a:r>
            <a:endParaRPr sz="2000"/>
          </a:p>
          <a:p>
            <a:pPr indent="-266700" lvl="0" marL="228600" marR="0" rtl="0" algn="l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 Category- </a:t>
            </a:r>
            <a:r>
              <a:rPr b="1" i="0" lang="en-US" sz="21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 sz="2000"/>
          </a:p>
          <a:p>
            <a:pPr indent="-266700" lvl="0" marL="228600" marR="0" rtl="0" algn="l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ID- </a:t>
            </a:r>
            <a:endParaRPr sz="2000"/>
          </a:p>
          <a:p>
            <a:pPr indent="-266700" lvl="0" marL="228600" marR="0" rtl="0" algn="l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Name (Registered on portal) - </a:t>
            </a:r>
            <a:r>
              <a:rPr b="1" i="0" lang="en-US" sz="21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SPIREXA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182880" y="100584"/>
            <a:ext cx="1243584" cy="566928"/>
          </a:xfrm>
          <a:prstGeom prst="ellipse">
            <a:avLst/>
          </a:prstGeom>
          <a:solidFill>
            <a:srgbClr val="FFFFFF"/>
          </a:solidFill>
          <a:ln cap="flat" cmpd="sng" w="165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0" id="26" name="Google Shape;2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0" y="73152"/>
            <a:ext cx="1517904" cy="713234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"/>
          <p:cNvSpPr txBox="1"/>
          <p:nvPr/>
        </p:nvSpPr>
        <p:spPr>
          <a:xfrm>
            <a:off x="1554479" y="209752"/>
            <a:ext cx="8778242" cy="403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900"/>
              <a:buFont typeface="Times New Roman"/>
              <a:buNone/>
            </a:pPr>
            <a:r>
              <a:rPr b="1" i="0" lang="en-US" sz="2900" u="none" cap="none" strike="noStrik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/ PROPOSED SOLUTION</a:t>
            </a:r>
            <a:endParaRPr/>
          </a:p>
        </p:txBody>
      </p:sp>
      <p:sp>
        <p:nvSpPr>
          <p:cNvPr id="28" name="Google Shape;28;p2"/>
          <p:cNvSpPr txBox="1"/>
          <p:nvPr/>
        </p:nvSpPr>
        <p:spPr>
          <a:xfrm>
            <a:off x="11429999" y="6589697"/>
            <a:ext cx="548643" cy="134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pic>
        <p:nvPicPr>
          <p:cNvPr descr="Picture 2" id="29" name="Google Shape;2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733" y="690793"/>
            <a:ext cx="4680917" cy="2791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Sep 4, 2026, 01_23_39 PM.png" id="30" name="Google Shape;30;p2"/>
          <p:cNvPicPr preferRelativeResize="0"/>
          <p:nvPr/>
        </p:nvPicPr>
        <p:blipFill rotWithShape="1">
          <a:blip r:embed="rId5">
            <a:alphaModFix/>
          </a:blip>
          <a:srcRect b="0" l="0" r="1" t="0"/>
          <a:stretch/>
        </p:blipFill>
        <p:spPr>
          <a:xfrm>
            <a:off x="196490" y="3406870"/>
            <a:ext cx="5277248" cy="263865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10798"/>
                </a:lnTo>
                <a:lnTo>
                  <a:pt x="0" y="21600"/>
                </a:lnTo>
                <a:lnTo>
                  <a:pt x="10801" y="21600"/>
                </a:lnTo>
                <a:lnTo>
                  <a:pt x="21600" y="21600"/>
                </a:lnTo>
                <a:lnTo>
                  <a:pt x="21600" y="10798"/>
                </a:lnTo>
                <a:lnTo>
                  <a:pt x="21600" y="0"/>
                </a:lnTo>
                <a:lnTo>
                  <a:pt x="10801" y="0"/>
                </a:lnTo>
                <a:lnTo>
                  <a:pt x="0" y="0"/>
                </a:lnTo>
                <a:close/>
                <a:moveTo>
                  <a:pt x="16256" y="5893"/>
                </a:moveTo>
                <a:cubicBezTo>
                  <a:pt x="16273" y="5893"/>
                  <a:pt x="16292" y="6004"/>
                  <a:pt x="16298" y="6140"/>
                </a:cubicBezTo>
                <a:cubicBezTo>
                  <a:pt x="16309" y="6404"/>
                  <a:pt x="16257" y="6597"/>
                  <a:pt x="16223" y="6419"/>
                </a:cubicBezTo>
                <a:cubicBezTo>
                  <a:pt x="16195" y="6273"/>
                  <a:pt x="16218" y="5893"/>
                  <a:pt x="16256" y="5893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-1" y="6455664"/>
            <a:ext cx="12191697" cy="40233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4023359" y="6589697"/>
            <a:ext cx="4114802" cy="134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@SIH Idea submission- Template</a:t>
            </a:r>
            <a:endParaRPr/>
          </a:p>
        </p:txBody>
      </p:sp>
      <p:pic>
        <p:nvPicPr>
          <p:cNvPr descr="ChatGPT Image Sep 4, 2026, 03_27_48 PM.png" id="33" name="Google Shape;33;p2"/>
          <p:cNvPicPr preferRelativeResize="0"/>
          <p:nvPr/>
        </p:nvPicPr>
        <p:blipFill rotWithShape="1">
          <a:blip r:embed="rId6">
            <a:alphaModFix/>
          </a:blip>
          <a:srcRect b="0" l="234" r="234" t="0"/>
          <a:stretch/>
        </p:blipFill>
        <p:spPr>
          <a:xfrm>
            <a:off x="5552853" y="4352040"/>
            <a:ext cx="6016252" cy="20260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2" id="34" name="Google Shape;3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66343" y="846184"/>
            <a:ext cx="6013035" cy="329424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 txBox="1"/>
          <p:nvPr/>
        </p:nvSpPr>
        <p:spPr>
          <a:xfrm>
            <a:off x="6262964" y="4207447"/>
            <a:ext cx="345643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Live dashboard — running today</a:t>
            </a:r>
            <a:endParaRPr/>
          </a:p>
        </p:txBody>
      </p:sp>
      <p:pic>
        <p:nvPicPr>
          <p:cNvPr id="36" name="Google Shape;36;p2" title="Screenshot 2026-09-04 at 15.41.39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0"/>
            <a:ext cx="2591382" cy="71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182880" y="100584"/>
            <a:ext cx="1243584" cy="566928"/>
          </a:xfrm>
          <a:prstGeom prst="ellipse">
            <a:avLst/>
          </a:prstGeom>
          <a:solidFill>
            <a:srgbClr val="FFFFFF"/>
          </a:solidFill>
          <a:ln cap="flat" cmpd="sng" w="165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182880" y="313880"/>
            <a:ext cx="1243584" cy="140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SPIREXA</a:t>
            </a:r>
            <a:endParaRPr/>
          </a:p>
        </p:txBody>
      </p:sp>
      <p:pic>
        <p:nvPicPr>
          <p:cNvPr descr="Image 0" id="43" name="Google Shape;4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0" y="73152"/>
            <a:ext cx="1517904" cy="71323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"/>
          <p:cNvSpPr txBox="1"/>
          <p:nvPr/>
        </p:nvSpPr>
        <p:spPr>
          <a:xfrm>
            <a:off x="1554479" y="209752"/>
            <a:ext cx="8778242" cy="403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900"/>
              <a:buFont typeface="Times New Roman"/>
              <a:buNone/>
            </a:pPr>
            <a:r>
              <a:rPr b="1" i="0" lang="en-US" sz="2900" u="none" cap="none" strike="noStrik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-1" y="6455664"/>
            <a:ext cx="12191697" cy="40233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4023359" y="6589697"/>
            <a:ext cx="4114802" cy="134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@SIH Idea submission- Template</a:t>
            </a:r>
            <a:endParaRPr/>
          </a:p>
        </p:txBody>
      </p:sp>
      <p:sp>
        <p:nvSpPr>
          <p:cNvPr id="47" name="Google Shape;47;p3"/>
          <p:cNvSpPr txBox="1"/>
          <p:nvPr/>
        </p:nvSpPr>
        <p:spPr>
          <a:xfrm>
            <a:off x="11429999" y="6589697"/>
            <a:ext cx="548643" cy="134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pic>
        <p:nvPicPr>
          <p:cNvPr descr="Untitled design (1).png" id="48" name="Google Shape;48;p3"/>
          <p:cNvPicPr preferRelativeResize="0"/>
          <p:nvPr/>
        </p:nvPicPr>
        <p:blipFill rotWithShape="1">
          <a:blip r:embed="rId4">
            <a:alphaModFix/>
          </a:blip>
          <a:srcRect b="5920" l="0" r="0" t="11057"/>
          <a:stretch/>
        </p:blipFill>
        <p:spPr>
          <a:xfrm>
            <a:off x="55761" y="760026"/>
            <a:ext cx="12080648" cy="5683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3" title="Screenshot 2026-09-04 at 15.41.3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2591382" cy="71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/>
          <p:nvPr/>
        </p:nvSpPr>
        <p:spPr>
          <a:xfrm>
            <a:off x="182880" y="100584"/>
            <a:ext cx="1243584" cy="566928"/>
          </a:xfrm>
          <a:prstGeom prst="ellipse">
            <a:avLst/>
          </a:prstGeom>
          <a:solidFill>
            <a:srgbClr val="FFFFFF"/>
          </a:solidFill>
          <a:ln cap="flat" cmpd="sng" w="165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182880" y="313880"/>
            <a:ext cx="1243584" cy="140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SPIREXA</a:t>
            </a:r>
            <a:endParaRPr/>
          </a:p>
        </p:txBody>
      </p:sp>
      <p:pic>
        <p:nvPicPr>
          <p:cNvPr descr="Image 0" id="56" name="Google Shape;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0" y="73152"/>
            <a:ext cx="1517904" cy="71323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 txBox="1"/>
          <p:nvPr/>
        </p:nvSpPr>
        <p:spPr>
          <a:xfrm>
            <a:off x="1554479" y="209752"/>
            <a:ext cx="8778242" cy="403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900"/>
              <a:buFont typeface="Times New Roman"/>
              <a:buNone/>
            </a:pPr>
            <a:r>
              <a:rPr b="1" i="0" lang="en-US" sz="2900" u="none" cap="none" strike="noStrik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-1" y="6455664"/>
            <a:ext cx="12191697" cy="40233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4023359" y="6589697"/>
            <a:ext cx="4114802" cy="134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@SIH Idea submission- Template</a:t>
            </a:r>
            <a:endParaRPr/>
          </a:p>
        </p:txBody>
      </p:sp>
      <p:sp>
        <p:nvSpPr>
          <p:cNvPr id="60" name="Google Shape;60;p4"/>
          <p:cNvSpPr txBox="1"/>
          <p:nvPr/>
        </p:nvSpPr>
        <p:spPr>
          <a:xfrm>
            <a:off x="11429999" y="6589697"/>
            <a:ext cx="548643" cy="134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56031" y="822960"/>
            <a:ext cx="3803906" cy="1828802"/>
          </a:xfrm>
          <a:prstGeom prst="roundRect">
            <a:avLst>
              <a:gd fmla="val 2500" name="adj"/>
            </a:avLst>
          </a:prstGeom>
          <a:solidFill>
            <a:srgbClr val="EFF7F3"/>
          </a:solidFill>
          <a:ln cap="flat" cmpd="sng" w="12700">
            <a:solidFill>
              <a:srgbClr val="1E6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402335" y="927406"/>
            <a:ext cx="3566162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6B5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6B52"/>
                </a:solidFill>
                <a:latin typeface="Calibri"/>
                <a:ea typeface="Calibri"/>
                <a:cs typeface="Calibri"/>
                <a:sym typeface="Calibri"/>
              </a:rPr>
              <a:t>Feasibility — already proven</a:t>
            </a:r>
            <a:endParaRPr/>
          </a:p>
        </p:txBody>
      </p:sp>
      <p:sp>
        <p:nvSpPr>
          <p:cNvPr id="63" name="Google Shape;63;p4"/>
          <p:cNvSpPr txBox="1"/>
          <p:nvPr/>
        </p:nvSpPr>
        <p:spPr>
          <a:xfrm>
            <a:off x="402335" y="1133855"/>
            <a:ext cx="3547873" cy="81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5100" lvl="0" marL="1651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Runs end-to-end today on a laptop — no GPU, no cloud bill.</a:t>
            </a:r>
            <a:endParaRPr/>
          </a:p>
          <a:p>
            <a:pPr indent="-165100" lvl="0" marL="165100" marR="0" rtl="0" algn="l">
              <a:lnSpc>
                <a:spcPct val="155555"/>
              </a:lnSpc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All satellite data free for non-commercial use.</a:t>
            </a:r>
            <a:endParaRPr/>
          </a:p>
          <a:p>
            <a:pPr indent="-165100" lvl="0" marL="165100" marR="0" rtl="0" algn="l">
              <a:lnSpc>
                <a:spcPct val="155555"/>
              </a:lnSpc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Full rebuild 12 min; daily refresh 4 min.</a:t>
            </a:r>
            <a:endParaRPr/>
          </a:p>
          <a:p>
            <a:pPr indent="-165100" lvl="0" marL="165100" marR="0" rtl="0" algn="l">
              <a:lnSpc>
                <a:spcPct val="155555"/>
              </a:lnSpc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IoT node ≈ ₹5,000 — IIT Mandi proved ₹1 lakh units work at 60 sites.</a:t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4187952" y="822960"/>
            <a:ext cx="3803904" cy="1828802"/>
          </a:xfrm>
          <a:prstGeom prst="roundRect">
            <a:avLst>
              <a:gd fmla="val 2500" name="adj"/>
            </a:avLst>
          </a:prstGeom>
          <a:solidFill>
            <a:srgbClr val="FBEEEC"/>
          </a:solidFill>
          <a:ln cap="flat" cmpd="sng" w="12700">
            <a:solidFill>
              <a:srgbClr val="B03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4334254" y="927406"/>
            <a:ext cx="3566162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Potential challenges and risks</a:t>
            </a:r>
            <a:endParaRPr/>
          </a:p>
        </p:txBody>
      </p:sp>
      <p:sp>
        <p:nvSpPr>
          <p:cNvPr id="66" name="Google Shape;66;p4"/>
          <p:cNvSpPr txBox="1"/>
          <p:nvPr/>
        </p:nvSpPr>
        <p:spPr>
          <a:xfrm>
            <a:off x="4334254" y="1133855"/>
            <a:ext cx="3547874" cy="81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5100" lvl="0" marL="1651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Only 20 of 318 records have exact coordinates.</a:t>
            </a:r>
            <a:endParaRPr/>
          </a:p>
          <a:p>
            <a:pPr indent="-165100" lvl="0" marL="165100" marR="0" rtl="0" algn="l">
              <a:lnSpc>
                <a:spcPct val="155555"/>
              </a:lnSpc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Satellite lag makes this a daily forecast, not minute-by-minute.</a:t>
            </a:r>
            <a:endParaRPr/>
          </a:p>
          <a:p>
            <a:pPr indent="-165100" lvl="0" marL="165100" marR="0" rtl="0" algn="l">
              <a:lnSpc>
                <a:spcPct val="155555"/>
              </a:lnSpc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Soil moisture and radar do not exist before 2015.</a:t>
            </a:r>
            <a:endParaRPr/>
          </a:p>
          <a:p>
            <a:pPr indent="-165100" lvl="0" marL="165100" marR="0" rtl="0" algn="l">
              <a:lnSpc>
                <a:spcPct val="155555"/>
              </a:lnSpc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Field hardware faces rain, lightning, animals and theft.</a:t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8119871" y="822960"/>
            <a:ext cx="3803906" cy="1828802"/>
          </a:xfrm>
          <a:prstGeom prst="roundRect">
            <a:avLst>
              <a:gd fmla="val 2500" name="adj"/>
            </a:avLst>
          </a:prstGeom>
          <a:solidFill>
            <a:srgbClr val="FEF6E0"/>
          </a:solidFill>
          <a:ln cap="flat" cmpd="sng" w="12700">
            <a:solidFill>
              <a:srgbClr val="9267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8266176" y="927406"/>
            <a:ext cx="3566160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70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2670A"/>
                </a:solidFill>
                <a:latin typeface="Calibri"/>
                <a:ea typeface="Calibri"/>
                <a:cs typeface="Calibri"/>
                <a:sym typeface="Calibri"/>
              </a:rPr>
              <a:t>Strategies for overcoming them</a:t>
            </a:r>
            <a:endParaRPr/>
          </a:p>
        </p:txBody>
      </p:sp>
      <p:sp>
        <p:nvSpPr>
          <p:cNvPr id="69" name="Google Shape;69;p4"/>
          <p:cNvSpPr txBox="1"/>
          <p:nvPr/>
        </p:nvSpPr>
        <p:spPr>
          <a:xfrm>
            <a:off x="8266176" y="1133855"/>
            <a:ext cx="3547872" cy="996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5100" lvl="0" marL="1651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Partner with GSI for the field-validated inventory — the single biggest gain available.</a:t>
            </a:r>
            <a:endParaRPr/>
          </a:p>
          <a:p>
            <a:pPr indent="-165100" lvl="0" marL="165100" marR="0" rtl="0" algn="l">
              <a:lnSpc>
                <a:spcPct val="155555"/>
              </a:lnSpc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IoT nodes give minute-level ground truth where satellites cannot.</a:t>
            </a:r>
            <a:endParaRPr/>
          </a:p>
          <a:p>
            <a:pPr indent="-165100" lvl="0" marL="165100" marR="0" rtl="0" algn="l">
              <a:lnSpc>
                <a:spcPct val="155555"/>
              </a:lnSpc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IP67 enclosure, surge protection, solar sized for 14 sunless days.</a:t>
            </a:r>
            <a:endParaRPr/>
          </a:p>
          <a:p>
            <a:pPr indent="-165100" lvl="0" marL="165100" marR="0" rtl="0" algn="l">
              <a:lnSpc>
                <a:spcPct val="155555"/>
              </a:lnSpc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System degrades gracefully — a dead node never breaks it.</a:t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256031" y="2779776"/>
            <a:ext cx="4681731" cy="3529586"/>
          </a:xfrm>
          <a:prstGeom prst="roundRect">
            <a:avLst>
              <a:gd fmla="val 1295" name="adj"/>
            </a:avLst>
          </a:prstGeom>
          <a:solidFill>
            <a:srgbClr val="F5F8FB"/>
          </a:solidFill>
          <a:ln cap="flat" cmpd="sng" w="12700">
            <a:solidFill>
              <a:srgbClr val="D4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420623" y="2893367"/>
            <a:ext cx="4389123" cy="156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Proven precedent — and where we differ</a:t>
            </a:r>
            <a:endParaRPr/>
          </a:p>
        </p:txBody>
      </p:sp>
      <p:sp>
        <p:nvSpPr>
          <p:cNvPr id="72" name="Google Shape;72;p4"/>
          <p:cNvSpPr txBox="1"/>
          <p:nvPr/>
        </p:nvSpPr>
        <p:spPr>
          <a:xfrm>
            <a:off x="420623" y="3420744"/>
            <a:ext cx="4370835" cy="24853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IIT Mandi</a:t>
            </a: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(Dr K. V. Uday, Dr Varun Dutt) runs an AI landslide warning system at </a:t>
            </a: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60 sites in Himachal Pradesh</a:t>
            </a: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 Their nodes read soil moisture, rainfall, temperature, humidity and ground movement, warn up to </a:t>
            </a: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 hours ahead</a:t>
            </a: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at &gt;90% accuracy, and cost about ₹1 lakh — roughly 200× cheaper than conventional instrumentation.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6B5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6B52"/>
                </a:solidFill>
                <a:latin typeface="Calibri"/>
                <a:ea typeface="Calibri"/>
                <a:cs typeface="Calibri"/>
                <a:sym typeface="Calibri"/>
              </a:rPr>
              <a:t>Why that matters to us:  </a:t>
            </a: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it proves the sensor set we are prototyping works in Indian mountain conditions.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5A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A5A2B"/>
                </a:solidFill>
                <a:latin typeface="Calibri"/>
                <a:ea typeface="Calibri"/>
                <a:cs typeface="Calibri"/>
                <a:sym typeface="Calibri"/>
              </a:rPr>
              <a:t>Where we differ:  </a:t>
            </a: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their system watches 60 instrumented points. Ours watches the whole region from orbit — no hardware needed to cover a new village. The two are complementary: satellites decide where to look, ground nodes confirm what is happening there.</a:t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5065776" y="2779776"/>
            <a:ext cx="6858001" cy="3529586"/>
          </a:xfrm>
          <a:prstGeom prst="roundRect">
            <a:avLst>
              <a:gd fmla="val 1295" name="adj"/>
            </a:avLst>
          </a:prstGeom>
          <a:solidFill>
            <a:srgbClr val="FFFFFF"/>
          </a:solidFill>
          <a:ln cap="flat" cmpd="sng" w="12700">
            <a:solidFill>
              <a:srgbClr val="D4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5230367" y="2893367"/>
            <a:ext cx="6492243" cy="156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Why our numbers can be trusted — we broke our own model to fix it</a:t>
            </a:r>
            <a:endParaRPr/>
          </a:p>
        </p:txBody>
      </p:sp>
      <p:sp>
        <p:nvSpPr>
          <p:cNvPr id="75" name="Google Shape;75;p4"/>
          <p:cNvSpPr txBox="1"/>
          <p:nvPr/>
        </p:nvSpPr>
        <p:spPr>
          <a:xfrm>
            <a:off x="5230367" y="4956492"/>
            <a:ext cx="6547106" cy="1151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Adding road data pushed accuracy to 0.953. It was a bug.</a:t>
            </a:r>
            <a:endParaRPr/>
          </a:p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900"/>
              <a:buFont typeface="Calibri"/>
              <a:buNone/>
            </a:pPr>
            <a:r>
              <a:t/>
            </a:r>
            <a:endParaRPr b="1" i="0" sz="900" u="none" cap="none" strike="noStrike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Landslides get recorded when someone notices them — near roads. Our comparison points sat 10× farther away, so the model learned “near a road” instead of “steep and saturated”. Deployed, it would have told remote villages they were safe.</a:t>
            </a:r>
            <a:endParaRPr/>
          </a:p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1E6B5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6B52"/>
                </a:solidFill>
                <a:latin typeface="Calibri"/>
                <a:ea typeface="Calibri"/>
                <a:cs typeface="Calibri"/>
                <a:sym typeface="Calibri"/>
              </a:rPr>
              <a:t>We matched the sampling, accuracy fell to 0.933, and rainfall became the top factor — exactly what the science predicts.</a:t>
            </a:r>
            <a:endParaRPr/>
          </a:p>
        </p:txBody>
      </p:sp>
      <p:pic>
        <p:nvPicPr>
          <p:cNvPr descr="ChatGPT Image Sep 4, 2026, 03_37_26 PM.png" id="76" name="Google Shape;7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0529" y="-27676"/>
            <a:ext cx="12202769" cy="6871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4" title="Screenshot 2026-09-04 at 15.41.3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2591382" cy="71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182880" y="100584"/>
            <a:ext cx="1243584" cy="566928"/>
          </a:xfrm>
          <a:prstGeom prst="ellipse">
            <a:avLst/>
          </a:prstGeom>
          <a:solidFill>
            <a:srgbClr val="FFFFFF"/>
          </a:solidFill>
          <a:ln cap="flat" cmpd="sng" w="165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182880" y="313880"/>
            <a:ext cx="1243584" cy="140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SPIREXA</a:t>
            </a:r>
            <a:endParaRPr/>
          </a:p>
        </p:txBody>
      </p:sp>
      <p:pic>
        <p:nvPicPr>
          <p:cNvPr descr="Image 0" id="84" name="Google Shape;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0" y="73152"/>
            <a:ext cx="1517904" cy="71323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 txBox="1"/>
          <p:nvPr/>
        </p:nvSpPr>
        <p:spPr>
          <a:xfrm>
            <a:off x="1554479" y="209752"/>
            <a:ext cx="8778242" cy="403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900"/>
              <a:buFont typeface="Times New Roman"/>
              <a:buNone/>
            </a:pPr>
            <a:r>
              <a:rPr b="1" i="0" lang="en-US" sz="2900" u="none" cap="none" strike="noStrik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-1" y="6455664"/>
            <a:ext cx="12191697" cy="40233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4023359" y="6589697"/>
            <a:ext cx="4114802" cy="134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@SIH Idea submission- Template</a:t>
            </a:r>
            <a:endParaRPr/>
          </a:p>
        </p:txBody>
      </p:sp>
      <p:sp>
        <p:nvSpPr>
          <p:cNvPr id="88" name="Google Shape;88;p5"/>
          <p:cNvSpPr txBox="1"/>
          <p:nvPr/>
        </p:nvSpPr>
        <p:spPr>
          <a:xfrm>
            <a:off x="11429999" y="6589697"/>
            <a:ext cx="548643" cy="134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pic>
        <p:nvPicPr>
          <p:cNvPr descr="Image 1" id="89" name="Google Shape;8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822960"/>
            <a:ext cx="5029202" cy="21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10515600" y="822960"/>
            <a:ext cx="1408176" cy="2176274"/>
          </a:xfrm>
          <a:prstGeom prst="roundRect">
            <a:avLst>
              <a:gd fmla="val 3247" name="adj"/>
            </a:avLst>
          </a:prstGeom>
          <a:solidFill>
            <a:srgbClr val="FBEEEC"/>
          </a:solidFill>
          <a:ln cap="flat" cmpd="sng" w="12700">
            <a:solidFill>
              <a:srgbClr val="B03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10588752" y="971675"/>
            <a:ext cx="1261874" cy="3060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Cost of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inaction</a:t>
            </a:r>
            <a:endParaRPr/>
          </a:p>
        </p:txBody>
      </p:sp>
      <p:sp>
        <p:nvSpPr>
          <p:cNvPr id="92" name="Google Shape;92;p5"/>
          <p:cNvSpPr txBox="1"/>
          <p:nvPr/>
        </p:nvSpPr>
        <p:spPr>
          <a:xfrm>
            <a:off x="10588752" y="1372616"/>
            <a:ext cx="1261874" cy="1534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3333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₹327 cr</a:t>
            </a:r>
            <a:endParaRPr/>
          </a:p>
          <a:p>
            <a:pPr indent="0" lvl="0" marL="0" marR="0" rtl="0" algn="ctr">
              <a:lnSpc>
                <a:spcPct val="73333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1500"/>
              <a:buFont typeface="Calibri"/>
              <a:buNone/>
            </a:pPr>
            <a:r>
              <a:t/>
            </a:r>
            <a:endParaRPr b="1" i="0" sz="1500" u="none" cap="none" strike="noStrike">
              <a:solidFill>
                <a:srgbClr val="B03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NHPC Teesta-V</a:t>
            </a:r>
            <a:endParaRPr/>
          </a:p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one landslide</a:t>
            </a:r>
            <a:endParaRPr/>
          </a:p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Aug 2024</a:t>
            </a:r>
            <a:endParaRPr/>
          </a:p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73333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329</a:t>
            </a:r>
            <a:endParaRPr/>
          </a:p>
          <a:p>
            <a:pPr indent="0" lvl="0" marL="0" marR="0" rtl="0" algn="ctr">
              <a:lnSpc>
                <a:spcPct val="73333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1500"/>
              <a:buFont typeface="Calibri"/>
              <a:buNone/>
            </a:pPr>
            <a:r>
              <a:t/>
            </a:r>
            <a:endParaRPr b="1" i="0" sz="1500" u="none" cap="none" strike="noStrike">
              <a:solidFill>
                <a:srgbClr val="B03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deaths in the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events </a:t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256031" y="3127248"/>
            <a:ext cx="5797299" cy="3182114"/>
          </a:xfrm>
          <a:prstGeom prst="roundRect">
            <a:avLst>
              <a:gd fmla="val 1437" name="adj"/>
            </a:avLst>
          </a:prstGeom>
          <a:solidFill>
            <a:srgbClr val="F5F8FB"/>
          </a:solidFill>
          <a:ln cap="flat" cmpd="sng" w="12700">
            <a:solidFill>
              <a:srgbClr val="D4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420622" y="3240838"/>
            <a:ext cx="5486403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Potential impact on the target audience</a:t>
            </a:r>
            <a:endParaRPr/>
          </a:p>
        </p:txBody>
      </p:sp>
      <p:sp>
        <p:nvSpPr>
          <p:cNvPr id="95" name="Google Shape;95;p5"/>
          <p:cNvSpPr txBox="1"/>
          <p:nvPr/>
        </p:nvSpPr>
        <p:spPr>
          <a:xfrm>
            <a:off x="420624" y="3493008"/>
            <a:ext cx="1792224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A2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A5A2B"/>
                </a:solidFill>
                <a:latin typeface="Calibri"/>
                <a:ea typeface="Calibri"/>
                <a:cs typeface="Calibri"/>
                <a:sym typeface="Calibri"/>
              </a:rPr>
              <a:t>District administrations</a:t>
            </a:r>
            <a:endParaRPr/>
          </a:p>
        </p:txBody>
      </p:sp>
      <p:sp>
        <p:nvSpPr>
          <p:cNvPr id="96" name="Google Shape;96;p5"/>
          <p:cNvSpPr txBox="1"/>
          <p:nvPr/>
        </p:nvSpPr>
        <p:spPr>
          <a:xfrm>
            <a:off x="2286000" y="3493008"/>
            <a:ext cx="3621024" cy="3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daily ranked watch-list instead of a phone call after the slope has already gone.</a:t>
            </a:r>
            <a:endParaRPr/>
          </a:p>
        </p:txBody>
      </p:sp>
      <p:sp>
        <p:nvSpPr>
          <p:cNvPr id="97" name="Google Shape;97;p5"/>
          <p:cNvSpPr txBox="1"/>
          <p:nvPr/>
        </p:nvSpPr>
        <p:spPr>
          <a:xfrm>
            <a:off x="420624" y="4187952"/>
            <a:ext cx="1792224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A2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A5A2B"/>
                </a:solidFill>
                <a:latin typeface="Calibri"/>
                <a:ea typeface="Calibri"/>
                <a:cs typeface="Calibri"/>
                <a:sym typeface="Calibri"/>
              </a:rPr>
              <a:t>Remote villages</a:t>
            </a:r>
            <a:endParaRPr/>
          </a:p>
        </p:txBody>
      </p:sp>
      <p:sp>
        <p:nvSpPr>
          <p:cNvPr id="98" name="Google Shape;98;p5"/>
          <p:cNvSpPr txBox="1"/>
          <p:nvPr/>
        </p:nvSpPr>
        <p:spPr>
          <a:xfrm>
            <a:off x="2286000" y="4187952"/>
            <a:ext cx="3621024" cy="3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Warnings in Mizo, Khasi, Meitei, Assamese and five more — on basic phones, no internet.</a:t>
            </a:r>
            <a:endParaRPr/>
          </a:p>
        </p:txBody>
      </p:sp>
      <p:sp>
        <p:nvSpPr>
          <p:cNvPr id="99" name="Google Shape;99;p5"/>
          <p:cNvSpPr txBox="1"/>
          <p:nvPr/>
        </p:nvSpPr>
        <p:spPr>
          <a:xfrm>
            <a:off x="420624" y="4882896"/>
            <a:ext cx="1792224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A2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A5A2B"/>
                </a:solidFill>
                <a:latin typeface="Calibri"/>
                <a:ea typeface="Calibri"/>
                <a:cs typeface="Calibri"/>
                <a:sym typeface="Calibri"/>
              </a:rPr>
              <a:t>Field officers</a:t>
            </a:r>
            <a:endParaRPr/>
          </a:p>
        </p:txBody>
      </p:sp>
      <p:sp>
        <p:nvSpPr>
          <p:cNvPr id="100" name="Google Shape;100;p5"/>
          <p:cNvSpPr txBox="1"/>
          <p:nvPr/>
        </p:nvSpPr>
        <p:spPr>
          <a:xfrm>
            <a:off x="2286000" y="4882896"/>
            <a:ext cx="3621024" cy="3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Works with no signal: cached risk map, hazard reports that queue and upload later.</a:t>
            </a:r>
            <a:endParaRPr/>
          </a:p>
        </p:txBody>
      </p:sp>
      <p:sp>
        <p:nvSpPr>
          <p:cNvPr id="101" name="Google Shape;101;p5"/>
          <p:cNvSpPr txBox="1"/>
          <p:nvPr/>
        </p:nvSpPr>
        <p:spPr>
          <a:xfrm>
            <a:off x="420624" y="5577840"/>
            <a:ext cx="1792224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A2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A5A2B"/>
                </a:solidFill>
                <a:latin typeface="Calibri"/>
                <a:ea typeface="Calibri"/>
                <a:cs typeface="Calibri"/>
                <a:sym typeface="Calibri"/>
              </a:rPr>
              <a:t>Road &amp; power authorities</a:t>
            </a:r>
            <a:endParaRPr/>
          </a:p>
        </p:txBody>
      </p:sp>
      <p:sp>
        <p:nvSpPr>
          <p:cNvPr id="102" name="Google Shape;102;p5"/>
          <p:cNvSpPr txBox="1"/>
          <p:nvPr/>
        </p:nvSpPr>
        <p:spPr>
          <a:xfrm>
            <a:off x="2286000" y="5577840"/>
            <a:ext cx="3621024" cy="15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Shows which highways and which assets sit below a slope at risk.</a:t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6181344" y="3127248"/>
            <a:ext cx="5742433" cy="3182114"/>
          </a:xfrm>
          <a:prstGeom prst="roundRect">
            <a:avLst>
              <a:gd fmla="val 1437" name="adj"/>
            </a:avLst>
          </a:prstGeom>
          <a:solidFill>
            <a:srgbClr val="EFF7F3"/>
          </a:solidFill>
          <a:ln cap="flat" cmpd="sng" w="12700">
            <a:solidFill>
              <a:srgbClr val="1E6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6345935" y="3240838"/>
            <a:ext cx="5394963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6B5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6B52"/>
                </a:solidFill>
                <a:latin typeface="Calibri"/>
                <a:ea typeface="Calibri"/>
                <a:cs typeface="Calibri"/>
                <a:sym typeface="Calibri"/>
              </a:rPr>
              <a:t>Benefits — social, economic, environmental</a:t>
            </a:r>
            <a:endParaRPr/>
          </a:p>
        </p:txBody>
      </p:sp>
      <p:sp>
        <p:nvSpPr>
          <p:cNvPr id="105" name="Google Shape;105;p5"/>
          <p:cNvSpPr txBox="1"/>
          <p:nvPr/>
        </p:nvSpPr>
        <p:spPr>
          <a:xfrm>
            <a:off x="6345935" y="3493008"/>
            <a:ext cx="1243586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6B5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6B52"/>
                </a:solidFill>
                <a:latin typeface="Calibri"/>
                <a:ea typeface="Calibri"/>
                <a:cs typeface="Calibri"/>
                <a:sym typeface="Calibri"/>
              </a:rPr>
              <a:t>Social</a:t>
            </a:r>
            <a:endParaRPr/>
          </a:p>
        </p:txBody>
      </p:sp>
      <p:sp>
        <p:nvSpPr>
          <p:cNvPr id="106" name="Google Shape;106;p5"/>
          <p:cNvSpPr txBox="1"/>
          <p:nvPr/>
        </p:nvSpPr>
        <p:spPr>
          <a:xfrm>
            <a:off x="7644383" y="3493008"/>
            <a:ext cx="4114802" cy="3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Warns the isolated villages a road-biased model would have missed. 329 deaths are recorded in the events we studied.</a:t>
            </a:r>
            <a:endParaRPr/>
          </a:p>
        </p:txBody>
      </p:sp>
      <p:sp>
        <p:nvSpPr>
          <p:cNvPr id="107" name="Google Shape;107;p5"/>
          <p:cNvSpPr txBox="1"/>
          <p:nvPr/>
        </p:nvSpPr>
        <p:spPr>
          <a:xfrm>
            <a:off x="6345935" y="4425696"/>
            <a:ext cx="1243586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6B5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6B52"/>
                </a:solidFill>
                <a:latin typeface="Calibri"/>
                <a:ea typeface="Calibri"/>
                <a:cs typeface="Calibri"/>
                <a:sym typeface="Calibri"/>
              </a:rPr>
              <a:t>Economic</a:t>
            </a:r>
            <a:endParaRPr/>
          </a:p>
        </p:txBody>
      </p:sp>
      <p:sp>
        <p:nvSpPr>
          <p:cNvPr id="108" name="Google Shape;108;p5"/>
          <p:cNvSpPr txBox="1"/>
          <p:nvPr/>
        </p:nvSpPr>
        <p:spPr>
          <a:xfrm>
            <a:off x="7644383" y="4425696"/>
            <a:ext cx="4114802" cy="3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single Teesta-V style loss is ₹327 crore. Pre-emptive slope work costs a fraction of rebuilding. Free satellite data, no GPU.</a:t>
            </a:r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6345935" y="5358384"/>
            <a:ext cx="1243586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6B5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6B52"/>
                </a:solidFill>
                <a:latin typeface="Calibri"/>
                <a:ea typeface="Calibri"/>
                <a:cs typeface="Calibri"/>
                <a:sym typeface="Calibri"/>
              </a:rPr>
              <a:t>Environmental</a:t>
            </a:r>
            <a:endParaRPr/>
          </a:p>
        </p:txBody>
      </p:sp>
      <p:sp>
        <p:nvSpPr>
          <p:cNvPr id="110" name="Google Shape;110;p5"/>
          <p:cNvSpPr txBox="1"/>
          <p:nvPr/>
        </p:nvSpPr>
        <p:spPr>
          <a:xfrm>
            <a:off x="7644383" y="5358384"/>
            <a:ext cx="4114802" cy="3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Flags slopes destabilised by unplanned hill-cutting, using vegetation loss and radar surface change.</a:t>
            </a:r>
            <a:endParaRPr/>
          </a:p>
        </p:txBody>
      </p:sp>
      <p:pic>
        <p:nvPicPr>
          <p:cNvPr descr="ChatGPT Image Sep 4, 2026, 02_55_29 PM.png" id="111" name="Google Shape;111;p5"/>
          <p:cNvPicPr preferRelativeResize="0"/>
          <p:nvPr/>
        </p:nvPicPr>
        <p:blipFill rotWithShape="1">
          <a:blip r:embed="rId5">
            <a:alphaModFix/>
          </a:blip>
          <a:srcRect b="0" l="0" r="0" t="11137"/>
          <a:stretch/>
        </p:blipFill>
        <p:spPr>
          <a:xfrm>
            <a:off x="-25400" y="707043"/>
            <a:ext cx="12242822" cy="616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5" title="Screenshot 2026-09-04 at 15.41.3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0"/>
            <a:ext cx="2591382" cy="71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5" title="ChatGPT Image Sep 4, 2026, 03_52_43 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95550" y="0"/>
            <a:ext cx="123995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5" title="Screenshot 2026-09-04 at 15.41.3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-18274"/>
            <a:ext cx="2923653" cy="80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/>
          <p:nvPr/>
        </p:nvSpPr>
        <p:spPr>
          <a:xfrm>
            <a:off x="182880" y="100584"/>
            <a:ext cx="1243584" cy="566928"/>
          </a:xfrm>
          <a:prstGeom prst="ellipse">
            <a:avLst/>
          </a:prstGeom>
          <a:solidFill>
            <a:srgbClr val="FFFFFF"/>
          </a:solidFill>
          <a:ln cap="flat" cmpd="sng" w="165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182880" y="313880"/>
            <a:ext cx="1243584" cy="140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SPIREXA</a:t>
            </a:r>
            <a:endParaRPr/>
          </a:p>
        </p:txBody>
      </p:sp>
      <p:pic>
        <p:nvPicPr>
          <p:cNvPr descr="Image 0"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0" y="73152"/>
            <a:ext cx="1517904" cy="71323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 txBox="1"/>
          <p:nvPr/>
        </p:nvSpPr>
        <p:spPr>
          <a:xfrm>
            <a:off x="1554479" y="209752"/>
            <a:ext cx="8778242" cy="403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900"/>
              <a:buFont typeface="Times New Roman"/>
              <a:buNone/>
            </a:pPr>
            <a:r>
              <a:rPr b="1" i="0" lang="en-US" sz="2900" u="none" cap="none" strike="noStrik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AND REFERENCES</a:t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-1" y="6455664"/>
            <a:ext cx="12191697" cy="40233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4023359" y="6589697"/>
            <a:ext cx="4114802" cy="134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@SIH Idea submission- Template</a:t>
            </a:r>
            <a:endParaRPr/>
          </a:p>
        </p:txBody>
      </p:sp>
      <p:sp>
        <p:nvSpPr>
          <p:cNvPr id="125" name="Google Shape;125;p6"/>
          <p:cNvSpPr txBox="1"/>
          <p:nvPr/>
        </p:nvSpPr>
        <p:spPr>
          <a:xfrm>
            <a:off x="11429999" y="6589697"/>
            <a:ext cx="548643" cy="134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1758081" y="884322"/>
            <a:ext cx="5797200" cy="2395800"/>
          </a:xfrm>
          <a:prstGeom prst="roundRect">
            <a:avLst>
              <a:gd fmla="val 1908" name="adj"/>
            </a:avLst>
          </a:prstGeom>
          <a:solidFill>
            <a:srgbClr val="F5F8FB"/>
          </a:solidFill>
          <a:ln cap="flat" cmpd="sng" w="12700">
            <a:solidFill>
              <a:srgbClr val="D4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6345935" y="927406"/>
            <a:ext cx="5394963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Data sources and evidence</a:t>
            </a:r>
            <a:endParaRPr/>
          </a:p>
        </p:txBody>
      </p:sp>
      <p:sp>
        <p:nvSpPr>
          <p:cNvPr id="128" name="Google Shape;128;p6"/>
          <p:cNvSpPr txBox="1"/>
          <p:nvPr/>
        </p:nvSpPr>
        <p:spPr>
          <a:xfrm>
            <a:off x="6345935" y="1170938"/>
            <a:ext cx="539496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NASA GPM IMERG v07 — rainfall, 30-minute cadence.</a:t>
            </a:r>
            <a:endParaRPr/>
          </a:p>
        </p:txBody>
      </p:sp>
      <p:sp>
        <p:nvSpPr>
          <p:cNvPr id="129" name="Google Shape;129;p6">
            <a:hlinkClick r:id="rId4"/>
          </p:cNvPr>
          <p:cNvSpPr txBox="1"/>
          <p:nvPr/>
        </p:nvSpPr>
        <p:spPr>
          <a:xfrm>
            <a:off x="6547104" y="1340103"/>
            <a:ext cx="521208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Calibri"/>
              <a:buNone/>
            </a:pPr>
            <a:r>
              <a:rPr b="0" i="0" lang="en-US" sz="800" u="sng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https://gpm.nasa.gov/data/imerg</a:t>
            </a: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6345935" y="1591563"/>
            <a:ext cx="539496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NASA SMAP L4 — surface and root-zone soil moisture.</a:t>
            </a:r>
            <a:endParaRPr/>
          </a:p>
        </p:txBody>
      </p:sp>
      <p:sp>
        <p:nvSpPr>
          <p:cNvPr id="131" name="Google Shape;131;p6">
            <a:hlinkClick r:id="rId6"/>
          </p:cNvPr>
          <p:cNvSpPr txBox="1"/>
          <p:nvPr/>
        </p:nvSpPr>
        <p:spPr>
          <a:xfrm>
            <a:off x="6547104" y="1760728"/>
            <a:ext cx="521208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Calibri"/>
              <a:buNone/>
            </a:pPr>
            <a:r>
              <a:rPr b="0" i="0" lang="en-US" sz="800" u="sng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https://smap.jpl.nasa.gov/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6345935" y="2012188"/>
            <a:ext cx="539496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ESA Copernicus Sentinel-1 — C-band radar through cloud.</a:t>
            </a:r>
            <a:endParaRPr/>
          </a:p>
        </p:txBody>
      </p:sp>
      <p:sp>
        <p:nvSpPr>
          <p:cNvPr id="133" name="Google Shape;133;p6">
            <a:hlinkClick r:id="rId8"/>
          </p:cNvPr>
          <p:cNvSpPr txBox="1"/>
          <p:nvPr/>
        </p:nvSpPr>
        <p:spPr>
          <a:xfrm>
            <a:off x="6547104" y="2181351"/>
            <a:ext cx="521208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Calibri"/>
              <a:buNone/>
            </a:pPr>
            <a:r>
              <a:rPr b="0" i="0" lang="en-US" sz="800" u="sng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https://sentiwiki.copernicus.eu/web/s1-mission</a:t>
            </a:r>
            <a:endParaRPr/>
          </a:p>
        </p:txBody>
      </p:sp>
      <p:sp>
        <p:nvSpPr>
          <p:cNvPr id="134" name="Google Shape;134;p6"/>
          <p:cNvSpPr txBox="1"/>
          <p:nvPr/>
        </p:nvSpPr>
        <p:spPr>
          <a:xfrm>
            <a:off x="6345935" y="2432811"/>
            <a:ext cx="539496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OpenStreetMap — 46,087 NER road segments.</a:t>
            </a:r>
            <a:endParaRPr/>
          </a:p>
        </p:txBody>
      </p:sp>
      <p:sp>
        <p:nvSpPr>
          <p:cNvPr id="135" name="Google Shape;135;p6">
            <a:hlinkClick r:id="rId10"/>
          </p:cNvPr>
          <p:cNvSpPr txBox="1"/>
          <p:nvPr/>
        </p:nvSpPr>
        <p:spPr>
          <a:xfrm>
            <a:off x="6547104" y="2601975"/>
            <a:ext cx="521208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Calibri"/>
              <a:buNone/>
            </a:pPr>
            <a:r>
              <a:rPr b="0" i="0" lang="en-US" sz="800" u="sng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https://www.openstreetmap.org/copyright</a:t>
            </a:r>
            <a:endParaRPr/>
          </a:p>
        </p:txBody>
      </p:sp>
      <p:sp>
        <p:nvSpPr>
          <p:cNvPr id="136" name="Google Shape;136;p6"/>
          <p:cNvSpPr txBox="1"/>
          <p:nvPr/>
        </p:nvSpPr>
        <p:spPr>
          <a:xfrm>
            <a:off x="6345935" y="2853435"/>
            <a:ext cx="539496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NHPC Teesta-V losses — ₹327.67 cr landslide, Aug 2024.</a:t>
            </a:r>
            <a:endParaRPr/>
          </a:p>
        </p:txBody>
      </p:sp>
      <p:sp>
        <p:nvSpPr>
          <p:cNvPr id="137" name="Google Shape;137;p6">
            <a:hlinkClick r:id="rId12"/>
          </p:cNvPr>
          <p:cNvSpPr txBox="1"/>
          <p:nvPr/>
        </p:nvSpPr>
        <p:spPr>
          <a:xfrm>
            <a:off x="6547104" y="3022600"/>
            <a:ext cx="521208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Calibri"/>
              <a:buNone/>
            </a:pPr>
            <a:r>
              <a:rPr b="0" i="0" lang="en-US" sz="800" u="sng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indiatodayne.in — Sikkim landslide, ₹327 cr loss to Teesta-V</a:t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365760" y="4906116"/>
            <a:ext cx="1792224" cy="301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318</a:t>
            </a:r>
            <a:endParaRPr/>
          </a:p>
        </p:txBody>
      </p:sp>
      <p:sp>
        <p:nvSpPr>
          <p:cNvPr id="139" name="Google Shape;139;p6"/>
          <p:cNvSpPr txBox="1"/>
          <p:nvPr/>
        </p:nvSpPr>
        <p:spPr>
          <a:xfrm>
            <a:off x="365760" y="5245797"/>
            <a:ext cx="1792224" cy="280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landslides</a:t>
            </a:r>
            <a:endParaRPr/>
          </a:p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trained on</a:t>
            </a:r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2286000" y="4906116"/>
            <a:ext cx="1792224" cy="301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6B5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6B52"/>
                </a:solidFill>
                <a:latin typeface="Calibri"/>
                <a:ea typeface="Calibri"/>
                <a:cs typeface="Calibri"/>
                <a:sym typeface="Calibri"/>
              </a:rPr>
              <a:t>0.933</a:t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2286000" y="5245797"/>
            <a:ext cx="1792224" cy="280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ROC-AUC</a:t>
            </a:r>
            <a:endParaRPr/>
          </a:p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cross-validated</a:t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4206240" y="4906116"/>
            <a:ext cx="1792225" cy="301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6B5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6B52"/>
                </a:solidFill>
                <a:latin typeface="Calibri"/>
                <a:ea typeface="Calibri"/>
                <a:cs typeface="Calibri"/>
                <a:sym typeface="Calibri"/>
              </a:rPr>
              <a:t>87%</a:t>
            </a:r>
            <a:endParaRPr/>
          </a:p>
        </p:txBody>
      </p:sp>
      <p:sp>
        <p:nvSpPr>
          <p:cNvPr id="143" name="Google Shape;143;p6"/>
          <p:cNvSpPr txBox="1"/>
          <p:nvPr/>
        </p:nvSpPr>
        <p:spPr>
          <a:xfrm>
            <a:off x="4206240" y="5245797"/>
            <a:ext cx="1792225" cy="280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past events</a:t>
            </a:r>
            <a:endParaRPr/>
          </a:p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caught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6126479" y="4906116"/>
            <a:ext cx="1792225" cy="301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311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6126479" y="5245797"/>
            <a:ext cx="1792225" cy="280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hotspots</a:t>
            </a:r>
            <a:endParaRPr/>
          </a:p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scored daily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8046718" y="4906116"/>
            <a:ext cx="1792225" cy="301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8046718" y="5245797"/>
            <a:ext cx="1792225" cy="280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features from</a:t>
            </a:r>
            <a:endParaRPr/>
          </a:p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6 data sources</a:t>
            </a:r>
            <a:endParaRPr/>
          </a:p>
        </p:txBody>
      </p:sp>
      <p:sp>
        <p:nvSpPr>
          <p:cNvPr id="148" name="Google Shape;148;p6"/>
          <p:cNvSpPr txBox="1"/>
          <p:nvPr/>
        </p:nvSpPr>
        <p:spPr>
          <a:xfrm>
            <a:off x="7735834" y="4874241"/>
            <a:ext cx="179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49" name="Google Shape;149;p6"/>
          <p:cNvSpPr txBox="1"/>
          <p:nvPr/>
        </p:nvSpPr>
        <p:spPr>
          <a:xfrm>
            <a:off x="8600209" y="5564472"/>
            <a:ext cx="179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regional</a:t>
            </a:r>
            <a:endParaRPr/>
          </a:p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languages</a:t>
            </a:r>
            <a:endParaRPr/>
          </a:p>
        </p:txBody>
      </p:sp>
      <p:pic>
        <p:nvPicPr>
          <p:cNvPr id="150" name="Google Shape;150;p6" title="Screenshot 2026-09-04 at 15.41.39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0" y="0"/>
            <a:ext cx="2591382" cy="71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6" title="ChatGPT Image Sep 4, 2026, 04_04_36 PM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85275" y="613200"/>
            <a:ext cx="10518575" cy="5799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>
            <a:hlinkClick r:id="rId16"/>
          </p:cNvPr>
          <p:cNvSpPr txBox="1"/>
          <p:nvPr/>
        </p:nvSpPr>
        <p:spPr>
          <a:xfrm>
            <a:off x="4866413" y="1139350"/>
            <a:ext cx="47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>
            <a:hlinkClick r:id="rId17"/>
          </p:cNvPr>
          <p:cNvSpPr txBox="1"/>
          <p:nvPr/>
        </p:nvSpPr>
        <p:spPr>
          <a:xfrm>
            <a:off x="4191313" y="1570450"/>
            <a:ext cx="47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>
            <a:hlinkClick r:id="rId18"/>
          </p:cNvPr>
          <p:cNvSpPr txBox="1"/>
          <p:nvPr/>
        </p:nvSpPr>
        <p:spPr>
          <a:xfrm>
            <a:off x="4828313" y="1959875"/>
            <a:ext cx="47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>
            <a:hlinkClick r:id="rId19"/>
          </p:cNvPr>
          <p:cNvSpPr txBox="1"/>
          <p:nvPr/>
        </p:nvSpPr>
        <p:spPr>
          <a:xfrm>
            <a:off x="4149638" y="2390975"/>
            <a:ext cx="47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>
            <a:hlinkClick r:id="rId20"/>
          </p:cNvPr>
          <p:cNvSpPr txBox="1"/>
          <p:nvPr/>
        </p:nvSpPr>
        <p:spPr>
          <a:xfrm>
            <a:off x="3174538" y="2786350"/>
            <a:ext cx="47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>
            <a:hlinkClick r:id="rId21"/>
          </p:cNvPr>
          <p:cNvSpPr txBox="1"/>
          <p:nvPr/>
        </p:nvSpPr>
        <p:spPr>
          <a:xfrm>
            <a:off x="8983613" y="1139350"/>
            <a:ext cx="47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>
            <a:hlinkClick r:id="rId22"/>
          </p:cNvPr>
          <p:cNvSpPr txBox="1"/>
          <p:nvPr/>
        </p:nvSpPr>
        <p:spPr>
          <a:xfrm>
            <a:off x="8957413" y="1575775"/>
            <a:ext cx="47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>
            <a:hlinkClick r:id="rId23"/>
          </p:cNvPr>
          <p:cNvSpPr txBox="1"/>
          <p:nvPr/>
        </p:nvSpPr>
        <p:spPr>
          <a:xfrm>
            <a:off x="9163388" y="1996375"/>
            <a:ext cx="47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>
            <a:hlinkClick r:id="rId24"/>
          </p:cNvPr>
          <p:cNvSpPr txBox="1"/>
          <p:nvPr/>
        </p:nvSpPr>
        <p:spPr>
          <a:xfrm>
            <a:off x="8600188" y="2380138"/>
            <a:ext cx="47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>
            <a:hlinkClick r:id="rId25"/>
          </p:cNvPr>
          <p:cNvSpPr txBox="1"/>
          <p:nvPr/>
        </p:nvSpPr>
        <p:spPr>
          <a:xfrm>
            <a:off x="9072088" y="2822075"/>
            <a:ext cx="47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