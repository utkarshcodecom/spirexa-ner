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9AC"/>
    <a:srgbClr val="173C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2563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7D6C8-73CC-F2D2-27C1-0CD2728FC5E7}"/>
              </a:ext>
            </a:extLst>
          </p:cNvPr>
          <p:cNvSpPr txBox="1"/>
          <p:nvPr/>
        </p:nvSpPr>
        <p:spPr>
          <a:xfrm>
            <a:off x="621130" y="331161"/>
            <a:ext cx="6320589" cy="10026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A4 BOOKLET PAGE PREPARATION GUIDELINES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100" dirty="0"/>
              <a:t>Please use the provided </a:t>
            </a:r>
            <a:r>
              <a:rPr lang="en-IN" sz="1100" b="1" dirty="0"/>
              <a:t>A4 PPTX template</a:t>
            </a:r>
            <a:r>
              <a:rPr lang="en-IN" sz="1100" dirty="0"/>
              <a:t> to prepare your Startup / Innovation / Project profile for inclusion in the event booklet.</a:t>
            </a:r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Page Format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Page Size: </a:t>
            </a:r>
            <a:r>
              <a:rPr lang="en-IN" sz="1100" b="1" dirty="0"/>
              <a:t>A4 Portrait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Dimensions: </a:t>
            </a:r>
            <a:r>
              <a:rPr lang="en-IN" sz="1100" b="1" dirty="0"/>
              <a:t>210 × 297 mm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Use the provided </a:t>
            </a:r>
            <a:r>
              <a:rPr lang="en-IN" sz="1100" b="1" dirty="0"/>
              <a:t>PPTX template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Do not change the page size or overall layout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Keep all content within the designated sections</a:t>
            </a:r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Content to Include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Startup / Project Title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Tagline / One-liner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Startup / Team Name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Founder(s) / Team Member(s)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IIITA Connection, if applicable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Headquarters / Website / Email / Phone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Problem / Need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Proposed Solution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Key Features / Innovation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Applications / Impact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Current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Future Plan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How It Works / Workflow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Collaboration / Funding / Partnership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Contact Details and QR Code</a:t>
            </a:r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Content Preparation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Keep the text </a:t>
            </a:r>
            <a:r>
              <a:rPr lang="en-IN" sz="1100" b="1" dirty="0"/>
              <a:t>short, clear, and precise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Use </a:t>
            </a:r>
            <a:r>
              <a:rPr lang="en-IN" sz="1100" b="1" dirty="0"/>
              <a:t>bullet points instead of long paragraphs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Focus on the most important information only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Clearly highlight the </a:t>
            </a:r>
            <a:r>
              <a:rPr lang="en-IN" sz="1100" b="1" dirty="0"/>
              <a:t>innovation, value proposition, application, and impact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Avoid technical details that are difficult for a general industry audience to understand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Use simple and professional language</a:t>
            </a:r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Images &amp; Visuals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Add </a:t>
            </a:r>
            <a:r>
              <a:rPr lang="en-IN" sz="1100" b="1" dirty="0"/>
              <a:t>one high-quality product / prototype / startup image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Use a simple workflow / architecture diagram where relevant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Add your </a:t>
            </a:r>
            <a:r>
              <a:rPr lang="en-IN" sz="1100" b="1" dirty="0"/>
              <a:t>startup/team logo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Use only clear, high-resolution images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Do not stretch or distort images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Add a </a:t>
            </a:r>
            <a:r>
              <a:rPr lang="en-IN" sz="1100" b="1" dirty="0"/>
              <a:t>working QR code</a:t>
            </a:r>
            <a:r>
              <a:rPr lang="en-IN" sz="1100" dirty="0"/>
              <a:t> linked to your website, product demo, video, pitch deck, brochure, LinkedIn, etc.</a:t>
            </a:r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Before Submission</a:t>
            </a:r>
            <a:endParaRPr lang="en-IN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Replace all placeholder text and images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Check spelling, names, website links, and contact details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Verify that the QR code works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Ensure that no text or image extends outside the designated area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Review the complete page at 100% zoom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Submit the </a:t>
            </a:r>
            <a:r>
              <a:rPr lang="en-IN" sz="1100" b="1" dirty="0"/>
              <a:t>final page in the editable PPTX.</a:t>
            </a:r>
            <a:endParaRPr lang="en-IN" sz="1100" dirty="0"/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Note:</a:t>
            </a:r>
            <a:br>
              <a:rPr lang="en-IN" sz="1100" dirty="0"/>
            </a:br>
            <a:r>
              <a:rPr lang="en-IN" sz="1100" dirty="0"/>
              <a:t>The template is provided to maintain a </a:t>
            </a:r>
            <a:r>
              <a:rPr lang="en-IN" sz="1100" b="1" dirty="0"/>
              <a:t>uniform and professional format across the event booklet</a:t>
            </a:r>
            <a:r>
              <a:rPr lang="en-IN" sz="1100" dirty="0"/>
              <a:t>. Please retain the overall structure and branding while replacing the placeholder content with your own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41209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36576"/>
          </a:xfrm>
          <a:prstGeom prst="rect">
            <a:avLst/>
          </a:prstGeom>
          <a:solidFill>
            <a:srgbClr val="3C4555"/>
          </a:solidFill>
          <a:ln>
            <a:solidFill>
              <a:srgbClr val="3C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151384"/>
            <a:ext cx="3657600" cy="5447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sz="1400" b="1" dirty="0">
                <a:solidFill>
                  <a:srgbClr val="122D6C"/>
                </a:solidFill>
                <a:latin typeface="Aptos"/>
              </a:rPr>
              <a:t>CAREER &amp; INDUSTRY CONNECT 2026</a:t>
            </a:r>
            <a:br>
              <a:rPr lang="en-US" sz="1400" b="1" dirty="0">
                <a:solidFill>
                  <a:srgbClr val="122D6C"/>
                </a:solidFill>
                <a:latin typeface="Aptos"/>
              </a:rPr>
            </a:br>
            <a:r>
              <a:rPr lang="en-US" sz="1200" b="1" dirty="0">
                <a:solidFill>
                  <a:srgbClr val="1C49AC"/>
                </a:solidFill>
                <a:latin typeface="Aptos"/>
              </a:rPr>
              <a:t>STARTUP &amp; INNOVATION EXHIBITION</a:t>
            </a:r>
            <a:endParaRPr lang="en-US" sz="1400" b="1" dirty="0">
              <a:solidFill>
                <a:srgbClr val="1C49AC"/>
              </a:solidFill>
              <a:latin typeface="Aptos"/>
            </a:endParaRPr>
          </a:p>
          <a:p>
            <a:pPr algn="ctr"/>
            <a:r>
              <a:rPr lang="en-IN" sz="700" i="1" dirty="0"/>
              <a:t>Ideas • Prototypes • Startups • Collaboration &amp; Funding Opportunities</a:t>
            </a:r>
            <a:endParaRPr sz="1400" b="1" dirty="0">
              <a:solidFill>
                <a:srgbClr val="122D6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65960" y="736935"/>
            <a:ext cx="388620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0" dirty="0">
                <a:solidFill>
                  <a:srgbClr val="122D6C"/>
                </a:solidFill>
                <a:latin typeface="Aptos"/>
              </a:rPr>
              <a:t>19th – 20th </a:t>
            </a:r>
            <a:r>
              <a:rPr lang="en-US" sz="800" b="0" dirty="0">
                <a:solidFill>
                  <a:srgbClr val="122D6C"/>
                </a:solidFill>
                <a:latin typeface="Aptos"/>
              </a:rPr>
              <a:t>September</a:t>
            </a:r>
            <a:r>
              <a:rPr sz="800" b="0" dirty="0">
                <a:solidFill>
                  <a:srgbClr val="122D6C"/>
                </a:solidFill>
                <a:latin typeface="Aptos"/>
              </a:rPr>
              <a:t>, 202</a:t>
            </a:r>
            <a:r>
              <a:rPr lang="en-US" sz="800" b="0" dirty="0">
                <a:solidFill>
                  <a:srgbClr val="122D6C"/>
                </a:solidFill>
                <a:latin typeface="Aptos"/>
              </a:rPr>
              <a:t>6</a:t>
            </a:r>
            <a:r>
              <a:rPr sz="800" b="0" dirty="0">
                <a:solidFill>
                  <a:srgbClr val="122D6C"/>
                </a:solidFill>
                <a:latin typeface="Aptos"/>
              </a:rPr>
              <a:t>    •    IIIT Allahabad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4592" y="987552"/>
            <a:ext cx="7232904" cy="0"/>
          </a:xfrm>
          <a:prstGeom prst="line">
            <a:avLst/>
          </a:prstGeom>
          <a:ln w="10160">
            <a:solidFill>
              <a:srgbClr val="9C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2880" y="1143000"/>
            <a:ext cx="475488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>
                <a:solidFill>
                  <a:srgbClr val="122D6C"/>
                </a:solidFill>
                <a:latin typeface="Aptos"/>
              </a:rPr>
              <a:t>STARTUP / PROJECT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1554480"/>
            <a:ext cx="1737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EB8126"/>
                </a:solidFill>
                <a:latin typeface="Aptos"/>
              </a:rPr>
              <a:t>TAGLINE / ONE-LINER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5392" y="128016"/>
            <a:ext cx="868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AC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02552" y="320040"/>
            <a:ext cx="594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40" b="1" dirty="0">
                <a:solidFill>
                  <a:srgbClr val="122D6C"/>
                </a:solidFill>
                <a:latin typeface="Aptos"/>
              </a:rPr>
              <a:t>YOUR
LOGO
HERE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" y="1828800"/>
            <a:ext cx="3246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picture-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240280"/>
            <a:ext cx="438912" cy="4389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4712" y="2907792"/>
            <a:ext cx="14173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90" b="0">
                <a:solidFill>
                  <a:srgbClr val="122D6C"/>
                </a:solidFill>
                <a:latin typeface="Aptos"/>
              </a:rPr>
              <a:t>Startup / Product /
Prototype Image
(High Quality)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1627632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22D6C"/>
                </a:solidFill>
                <a:latin typeface="Aptos"/>
              </a:rPr>
              <a:t>Startup / Team Name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49039" y="1865376"/>
            <a:ext cx="1737361" cy="0"/>
          </a:xfrm>
          <a:prstGeom prst="line">
            <a:avLst/>
          </a:prstGeom>
          <a:ln w="12700">
            <a:solidFill>
              <a:srgbClr val="6E7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993392"/>
            <a:ext cx="180000" cy="1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968496" y="1984248"/>
            <a:ext cx="14173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232323"/>
                </a:solidFill>
                <a:latin typeface="Aptos"/>
              </a:rPr>
              <a:t>Founder(s) / Team Members:</a:t>
            </a:r>
          </a:p>
        </p:txBody>
      </p:sp>
      <p:cxnSp>
        <p:nvCxnSpPr>
          <p:cNvPr id="26" name="Connector 25"/>
          <p:cNvCxnSpPr>
            <a:cxnSpLocks/>
          </p:cNvCxnSpPr>
          <p:nvPr/>
        </p:nvCxnSpPr>
        <p:spPr>
          <a:xfrm>
            <a:off x="5413248" y="2084832"/>
            <a:ext cx="1901952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building-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212848"/>
            <a:ext cx="180000" cy="18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968496" y="2203704"/>
            <a:ext cx="14173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232323"/>
                </a:solidFill>
                <a:latin typeface="Aptos"/>
              </a:rPr>
              <a:t>IIITA Connection: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86784" y="2340864"/>
            <a:ext cx="32918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00" b="0" dirty="0">
                <a:solidFill>
                  <a:srgbClr val="232323"/>
                </a:solidFill>
                <a:latin typeface="Aptos"/>
              </a:rPr>
              <a:t>□ Incubated Startup    □ Student Startup    □ Student Innovation</a:t>
            </a:r>
            <a:r>
              <a:rPr lang="en-US" sz="700" b="0" dirty="0">
                <a:solidFill>
                  <a:srgbClr val="232323"/>
                </a:solidFill>
                <a:latin typeface="Aptos"/>
              </a:rPr>
              <a:t>  </a:t>
            </a:r>
            <a:r>
              <a:rPr sz="700" b="0" dirty="0">
                <a:solidFill>
                  <a:srgbClr val="232323"/>
                </a:solidFill>
                <a:latin typeface="Aptos"/>
              </a:rPr>
              <a:t>□ Alumni Startup</a:t>
            </a:r>
          </a:p>
        </p:txBody>
      </p:sp>
      <p:pic>
        <p:nvPicPr>
          <p:cNvPr id="30" name="Picture 29" descr="map-mar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2569464"/>
            <a:ext cx="180000" cy="18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68496" y="2560320"/>
            <a:ext cx="14173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232323"/>
                </a:solidFill>
                <a:latin typeface="Aptos"/>
              </a:rPr>
              <a:t>Headquarters:</a:t>
            </a:r>
          </a:p>
        </p:txBody>
      </p:sp>
      <p:cxnSp>
        <p:nvCxnSpPr>
          <p:cNvPr id="32" name="Connector 31"/>
          <p:cNvCxnSpPr>
            <a:cxnSpLocks/>
          </p:cNvCxnSpPr>
          <p:nvPr/>
        </p:nvCxnSpPr>
        <p:spPr>
          <a:xfrm>
            <a:off x="4617720" y="2660904"/>
            <a:ext cx="269748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328" y="2788920"/>
            <a:ext cx="180000" cy="18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968496" y="2779776"/>
            <a:ext cx="14173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232323"/>
                </a:solidFill>
                <a:latin typeface="Aptos"/>
              </a:rPr>
              <a:t>Website:</a:t>
            </a:r>
          </a:p>
        </p:txBody>
      </p:sp>
      <p:cxnSp>
        <p:nvCxnSpPr>
          <p:cNvPr id="35" name="Connector 34"/>
          <p:cNvCxnSpPr>
            <a:cxnSpLocks/>
          </p:cNvCxnSpPr>
          <p:nvPr/>
        </p:nvCxnSpPr>
        <p:spPr>
          <a:xfrm>
            <a:off x="4617720" y="2880360"/>
            <a:ext cx="269748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envelop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7328" y="3008376"/>
            <a:ext cx="180000" cy="18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968496" y="2999232"/>
            <a:ext cx="14173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232323"/>
                </a:solidFill>
                <a:latin typeface="Aptos"/>
              </a:rPr>
              <a:t>Email:</a:t>
            </a:r>
          </a:p>
        </p:txBody>
      </p:sp>
      <p:cxnSp>
        <p:nvCxnSpPr>
          <p:cNvPr id="38" name="Connector 37"/>
          <p:cNvCxnSpPr>
            <a:cxnSpLocks/>
          </p:cNvCxnSpPr>
          <p:nvPr/>
        </p:nvCxnSpPr>
        <p:spPr>
          <a:xfrm>
            <a:off x="4617720" y="3099816"/>
            <a:ext cx="269748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pho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7328" y="3227832"/>
            <a:ext cx="180000" cy="18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968496" y="3218688"/>
            <a:ext cx="14173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0">
                <a:solidFill>
                  <a:srgbClr val="232323"/>
                </a:solidFill>
                <a:latin typeface="Aptos"/>
              </a:rPr>
              <a:t>Phone:</a:t>
            </a:r>
          </a:p>
        </p:txBody>
      </p:sp>
      <p:cxnSp>
        <p:nvCxnSpPr>
          <p:cNvPr id="41" name="Connector 40"/>
          <p:cNvCxnSpPr>
            <a:cxnSpLocks/>
          </p:cNvCxnSpPr>
          <p:nvPr/>
        </p:nvCxnSpPr>
        <p:spPr>
          <a:xfrm>
            <a:off x="4617720" y="3319272"/>
            <a:ext cx="269748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82880" y="3886200"/>
            <a:ext cx="352044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10312" y="3913632"/>
            <a:ext cx="274320" cy="201168"/>
          </a:xfrm>
          <a:prstGeom prst="roundRect">
            <a:avLst>
              <a:gd name="adj" fmla="val 6000"/>
            </a:avLst>
          </a:prstGeom>
          <a:solidFill>
            <a:srgbClr val="1748AA"/>
          </a:solidFill>
          <a:ln w="10160">
            <a:solidFill>
              <a:srgbClr val="174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0312" y="3929176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936492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1748AA"/>
                </a:solidFill>
                <a:latin typeface="Aptos"/>
              </a:rPr>
              <a:t>PROBLEM / NEED</a:t>
            </a:r>
          </a:p>
        </p:txBody>
      </p:sp>
      <p:pic>
        <p:nvPicPr>
          <p:cNvPr id="46" name="Picture 45" descr="question-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1568" y="3931920"/>
            <a:ext cx="182880" cy="1828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56032" y="4187952"/>
            <a:ext cx="337413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232323"/>
                </a:solidFill>
                <a:latin typeface="Aptos"/>
              </a:rPr>
              <a:t>What problem are you solving?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4389120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389120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4320" y="4535424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4535424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4320" y="4681728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681728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292608" y="4544568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92608" y="4690872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92608" y="4837176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840480" y="3886199"/>
            <a:ext cx="3520440" cy="12373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7E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3867912" y="3913632"/>
            <a:ext cx="274320" cy="201168"/>
          </a:xfrm>
          <a:prstGeom prst="roundRect">
            <a:avLst>
              <a:gd name="adj" fmla="val 6000"/>
            </a:avLst>
          </a:prstGeom>
          <a:solidFill>
            <a:srgbClr val="EB8126"/>
          </a:solidFill>
          <a:ln w="10160">
            <a:solidFill>
              <a:srgbClr val="EB8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867912" y="3929176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0" y="3936492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EB8126"/>
                </a:solidFill>
                <a:latin typeface="Aptos"/>
              </a:rPr>
              <a:t>APPLICATIONS / IMPACT</a:t>
            </a:r>
          </a:p>
        </p:txBody>
      </p:sp>
      <p:pic>
        <p:nvPicPr>
          <p:cNvPr id="61" name="Picture 60" descr="us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9168" y="3931920"/>
            <a:ext cx="182880" cy="18288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913632" y="4187952"/>
            <a:ext cx="337413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232323"/>
                </a:solidFill>
                <a:latin typeface="Aptos"/>
              </a:rPr>
              <a:t>Where can it be used? What impact will it create?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31920" y="4389120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23360" y="4389120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31920" y="4535424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23360" y="4535424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931920" y="4681728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23360" y="4681728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cxnSp>
        <p:nvCxnSpPr>
          <p:cNvPr id="69" name="Connector 68"/>
          <p:cNvCxnSpPr/>
          <p:nvPr/>
        </p:nvCxnSpPr>
        <p:spPr>
          <a:xfrm>
            <a:off x="3950208" y="4546600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950208" y="4692904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950208" y="4839208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182880" y="521208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210312" y="5239512"/>
            <a:ext cx="274320" cy="201168"/>
          </a:xfrm>
          <a:prstGeom prst="roundRect">
            <a:avLst>
              <a:gd name="adj" fmla="val 6000"/>
            </a:avLst>
          </a:prstGeom>
          <a:solidFill>
            <a:srgbClr val="238C47"/>
          </a:solidFill>
          <a:ln w="10160">
            <a:solidFill>
              <a:srgbClr val="238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10312" y="5255056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5262372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238C47"/>
                </a:solidFill>
                <a:latin typeface="Aptos"/>
              </a:rPr>
              <a:t>OUR SOLUTION</a:t>
            </a:r>
          </a:p>
        </p:txBody>
      </p:sp>
      <p:pic>
        <p:nvPicPr>
          <p:cNvPr id="76" name="Picture 75" descr="lightbulb-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1568" y="5257800"/>
            <a:ext cx="182880" cy="18288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56032" y="5513832"/>
            <a:ext cx="337413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232323"/>
                </a:solidFill>
                <a:latin typeface="Aptos"/>
              </a:rPr>
              <a:t>Brief overview of your solution / product / technology.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" y="5715000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5715000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74320" y="5861304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5861304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74320" y="6007608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6007608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cxnSp>
        <p:nvCxnSpPr>
          <p:cNvPr id="84" name="Connector 83"/>
          <p:cNvCxnSpPr/>
          <p:nvPr/>
        </p:nvCxnSpPr>
        <p:spPr>
          <a:xfrm>
            <a:off x="292608" y="5877560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92608" y="6023864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92608" y="6170168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3840480" y="521208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3867912" y="5239512"/>
            <a:ext cx="274320" cy="201168"/>
          </a:xfrm>
          <a:prstGeom prst="roundRect">
            <a:avLst>
              <a:gd name="adj" fmla="val 6000"/>
            </a:avLst>
          </a:prstGeom>
          <a:solidFill>
            <a:srgbClr val="168896"/>
          </a:solidFill>
          <a:ln w="10160">
            <a:solidFill>
              <a:srgbClr val="168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867912" y="5255056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06240" y="5262372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168896"/>
                </a:solidFill>
                <a:latin typeface="Aptos"/>
              </a:rPr>
              <a:t>CURRENT STATUS</a:t>
            </a:r>
          </a:p>
        </p:txBody>
      </p:sp>
      <p:pic>
        <p:nvPicPr>
          <p:cNvPr id="91" name="Picture 90" descr="check-circle-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9168" y="5257800"/>
            <a:ext cx="182880" cy="18288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931920" y="5532120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23360" y="5532120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232323"/>
                </a:solidFill>
                <a:latin typeface="Aptos"/>
              </a:rPr>
              <a:t>Development Stage / TRL: _______________________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31920" y="5678424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23360" y="5678424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232323"/>
                </a:solidFill>
                <a:latin typeface="Aptos"/>
              </a:rPr>
              <a:t>Prototype / Product: _____________________________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31920" y="5824728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23360" y="5824728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232323"/>
                </a:solidFill>
                <a:latin typeface="Aptos"/>
              </a:rPr>
              <a:t>IP / Patent (if any): ____________________________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31920" y="5971032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23360" y="5971032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232323"/>
                </a:solidFill>
                <a:latin typeface="Aptos"/>
              </a:rPr>
              <a:t>Achievements (if any): ___________________________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31920" y="6117336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23360" y="6117336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232323"/>
                </a:solidFill>
                <a:latin typeface="Aptos"/>
              </a:rPr>
              <a:t>Recognition / Awards (if any): __________________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82880" y="6510528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210312" y="6537960"/>
            <a:ext cx="274320" cy="201168"/>
          </a:xfrm>
          <a:prstGeom prst="roundRect">
            <a:avLst>
              <a:gd name="adj" fmla="val 6000"/>
            </a:avLst>
          </a:prstGeom>
          <a:solidFill>
            <a:srgbClr val="6247A0"/>
          </a:solidFill>
          <a:ln w="10160">
            <a:solidFill>
              <a:srgbClr val="624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10312" y="6553504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6560820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6247A0"/>
                </a:solidFill>
                <a:latin typeface="Aptos"/>
              </a:rPr>
              <a:t>KEY FEATURES / INNOVATION</a:t>
            </a:r>
          </a:p>
        </p:txBody>
      </p:sp>
      <p:pic>
        <p:nvPicPr>
          <p:cNvPr id="106" name="Picture 105" descr="star-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01568" y="6556248"/>
            <a:ext cx="182880" cy="18288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256032" y="6812280"/>
            <a:ext cx="337413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232323"/>
                </a:solidFill>
                <a:latin typeface="Aptos"/>
              </a:rPr>
              <a:t>What makes your solution unique?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74320" y="7013448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5760" y="7013448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74320" y="7159752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5760" y="7159752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74320" y="7306056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5760" y="7306056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cxnSp>
        <p:nvCxnSpPr>
          <p:cNvPr id="114" name="Connector 113"/>
          <p:cNvCxnSpPr/>
          <p:nvPr/>
        </p:nvCxnSpPr>
        <p:spPr>
          <a:xfrm>
            <a:off x="292608" y="7178040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92608" y="7324344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92608" y="7470648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3840480" y="6510528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3867912" y="6537960"/>
            <a:ext cx="274320" cy="201168"/>
          </a:xfrm>
          <a:prstGeom prst="roundRect">
            <a:avLst>
              <a:gd name="adj" fmla="val 6000"/>
            </a:avLst>
          </a:prstGeom>
          <a:solidFill>
            <a:srgbClr val="C93A30"/>
          </a:solidFill>
          <a:ln w="10160">
            <a:solidFill>
              <a:srgbClr val="C9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867912" y="6553504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06240" y="6560820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C93A30"/>
                </a:solidFill>
                <a:latin typeface="Aptos"/>
              </a:rPr>
              <a:t>FUTURE PLAN</a:t>
            </a:r>
          </a:p>
        </p:txBody>
      </p:sp>
      <p:pic>
        <p:nvPicPr>
          <p:cNvPr id="121" name="Picture 120" descr="bullsey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9168" y="6556248"/>
            <a:ext cx="182880" cy="182880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3913632" y="6812280"/>
            <a:ext cx="337413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232323"/>
                </a:solidFill>
                <a:latin typeface="Aptos"/>
              </a:rPr>
              <a:t>What are your next milestones?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931920" y="7013448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23360" y="7013448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3931920" y="7159752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23360" y="7159752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931920" y="7306056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•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23360" y="7306056"/>
            <a:ext cx="3264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/>
          </a:p>
        </p:txBody>
      </p:sp>
      <p:cxnSp>
        <p:nvCxnSpPr>
          <p:cNvPr id="129" name="Connector 128"/>
          <p:cNvCxnSpPr/>
          <p:nvPr/>
        </p:nvCxnSpPr>
        <p:spPr>
          <a:xfrm>
            <a:off x="3950208" y="7176008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950208" y="7322312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950208" y="7468616"/>
            <a:ext cx="3300984" cy="0"/>
          </a:xfrm>
          <a:prstGeom prst="line">
            <a:avLst/>
          </a:prstGeom>
          <a:ln w="1016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182880" y="7699248"/>
            <a:ext cx="3520440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210312" y="7726680"/>
            <a:ext cx="274320" cy="201168"/>
          </a:xfrm>
          <a:prstGeom prst="roundRect">
            <a:avLst>
              <a:gd name="adj" fmla="val 6000"/>
            </a:avLst>
          </a:prstGeom>
          <a:solidFill>
            <a:srgbClr val="168896"/>
          </a:solidFill>
          <a:ln w="10160">
            <a:solidFill>
              <a:srgbClr val="168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10312" y="7742224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8640" y="7749540"/>
            <a:ext cx="2377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168896"/>
                </a:solidFill>
                <a:latin typeface="Aptos"/>
              </a:rPr>
              <a:t>HOW IT WORKS</a:t>
            </a:r>
          </a:p>
        </p:txBody>
      </p:sp>
      <p:pic>
        <p:nvPicPr>
          <p:cNvPr id="136" name="Picture 135" descr="cog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01568" y="7744968"/>
            <a:ext cx="182880" cy="18288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256032" y="8001000"/>
            <a:ext cx="33741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0">
                <a:solidFill>
                  <a:srgbClr val="232323"/>
                </a:solidFill>
                <a:latin typeface="Aptos"/>
              </a:rPr>
              <a:t>Brief workflow / architecture / working of your solution.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20624" y="821131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68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9" name="Picture 138" descr="grou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776" y="8284464"/>
            <a:ext cx="146304" cy="146304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384048" y="8513064"/>
            <a:ext cx="36576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20" b="0">
                <a:solidFill>
                  <a:srgbClr val="232323"/>
                </a:solidFill>
                <a:latin typeface="Aptos"/>
              </a:rPr>
              <a:t>Input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68096" y="8339328"/>
            <a:ext cx="219456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676E7A"/>
                </a:solidFill>
                <a:latin typeface="Aptos"/>
              </a:rPr>
              <a:t>→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261872" y="821131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38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3" name="Picture 142" descr="cog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5024" y="8284464"/>
            <a:ext cx="146304" cy="146304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225296" y="8513064"/>
            <a:ext cx="36576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20" b="0">
                <a:solidFill>
                  <a:srgbClr val="232323"/>
                </a:solidFill>
                <a:latin typeface="Aptos"/>
              </a:rPr>
              <a:t>Process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609344" y="8339328"/>
            <a:ext cx="219456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676E7A"/>
                </a:solidFill>
                <a:latin typeface="Aptos"/>
              </a:rPr>
              <a:t>→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139696" y="821131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B8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7" name="Picture 146" descr="cub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12848" y="8284464"/>
            <a:ext cx="146304" cy="146304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2103120" y="8513064"/>
            <a:ext cx="36576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20" b="0">
                <a:solidFill>
                  <a:srgbClr val="232323"/>
                </a:solidFill>
                <a:latin typeface="Aptos"/>
              </a:rPr>
              <a:t>Solution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487168" y="8339328"/>
            <a:ext cx="219456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676E7A"/>
                </a:solidFill>
                <a:latin typeface="Aptos"/>
              </a:rPr>
              <a:t>→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035808" y="821131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74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1" name="Picture 150" descr="check-circle-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08960" y="8284464"/>
            <a:ext cx="146304" cy="146304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2999232" y="8513064"/>
            <a:ext cx="36576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20" b="0">
                <a:solidFill>
                  <a:srgbClr val="232323"/>
                </a:solidFill>
                <a:latin typeface="Aptos"/>
              </a:rPr>
              <a:t>Outcome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840480" y="7699248"/>
            <a:ext cx="3520440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ounded Rectangle 153"/>
          <p:cNvSpPr/>
          <p:nvPr/>
        </p:nvSpPr>
        <p:spPr>
          <a:xfrm>
            <a:off x="3867912" y="7726680"/>
            <a:ext cx="274320" cy="201168"/>
          </a:xfrm>
          <a:prstGeom prst="roundRect">
            <a:avLst>
              <a:gd name="adj" fmla="val 6000"/>
            </a:avLst>
          </a:prstGeom>
          <a:solidFill>
            <a:srgbClr val="122D6C"/>
          </a:solidFill>
          <a:ln w="10160">
            <a:solidFill>
              <a:srgbClr val="122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867912" y="7742224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206240" y="7749540"/>
            <a:ext cx="2697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1">
                <a:solidFill>
                  <a:srgbClr val="122D6C"/>
                </a:solidFill>
                <a:latin typeface="Aptos"/>
              </a:rPr>
              <a:t>LOOKING FOR</a:t>
            </a:r>
          </a:p>
        </p:txBody>
      </p:sp>
      <p:pic>
        <p:nvPicPr>
          <p:cNvPr id="157" name="Picture 156" descr="handshake-o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59168" y="7744968"/>
            <a:ext cx="182880" cy="18288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3968496" y="8037575"/>
            <a:ext cx="1508760" cy="7578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dirty="0">
                <a:solidFill>
                  <a:srgbClr val="232323"/>
                </a:solidFill>
                <a:latin typeface="Aptos"/>
              </a:rPr>
              <a:t>□ Industry Collaboration
□ Investment / Funding
□ Mentorship
□ Other: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50992" y="8037575"/>
            <a:ext cx="1554480" cy="5731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dirty="0">
                <a:solidFill>
                  <a:srgbClr val="232323"/>
                </a:solidFill>
                <a:latin typeface="Aptos"/>
              </a:rPr>
              <a:t>□ Technology Partnership
□ Pilot / Deployment
□ Talent / Internship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82880" y="9052560"/>
            <a:ext cx="713232" cy="1005840"/>
          </a:xfrm>
          <a:prstGeom prst="roundRect">
            <a:avLst>
              <a:gd name="adj" fmla="val 6000"/>
            </a:avLst>
          </a:prstGeom>
          <a:solidFill>
            <a:srgbClr val="122D6C"/>
          </a:solidFill>
          <a:ln w="10160">
            <a:solidFill>
              <a:srgbClr val="122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2" name="Picture 161" descr="user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75488" y="9171432"/>
            <a:ext cx="164592" cy="164592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265176" y="9381744"/>
            <a:ext cx="566928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dirty="0">
                <a:solidFill>
                  <a:srgbClr val="FFFFFF"/>
                </a:solidFill>
                <a:latin typeface="Aptos"/>
              </a:rPr>
              <a:t>CONTACT &amp;
CONNECT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932688" y="905256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5" name="Picture 164" descr="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9189720"/>
            <a:ext cx="144000" cy="14400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1225296" y="9180576"/>
            <a:ext cx="475488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70" b="0">
                <a:solidFill>
                  <a:srgbClr val="232323"/>
                </a:solidFill>
                <a:latin typeface="Aptos"/>
              </a:rPr>
              <a:t>Website: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1691640" y="9272016"/>
            <a:ext cx="105156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8" name="Picture 167" descr="linkedi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4128" y="9363456"/>
            <a:ext cx="144000" cy="14400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1225296" y="9354312"/>
            <a:ext cx="475488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70" b="0">
                <a:solidFill>
                  <a:srgbClr val="232323"/>
                </a:solidFill>
                <a:latin typeface="Aptos"/>
              </a:rPr>
              <a:t>LinkedIn: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1691640" y="9445752"/>
            <a:ext cx="105156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1" name="Picture 170" descr="envelop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9537192"/>
            <a:ext cx="144000" cy="14400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1225296" y="9528048"/>
            <a:ext cx="475488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70" b="0">
                <a:solidFill>
                  <a:srgbClr val="232323"/>
                </a:solidFill>
                <a:latin typeface="Aptos"/>
              </a:rPr>
              <a:t>Email: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1691640" y="9619488"/>
            <a:ext cx="105156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" name="Picture 173" descr="pho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9710928"/>
            <a:ext cx="144000" cy="144000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1225296" y="9701784"/>
            <a:ext cx="475488" cy="100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70" b="0">
                <a:solidFill>
                  <a:srgbClr val="232323"/>
                </a:solidFill>
                <a:latin typeface="Aptos"/>
              </a:rPr>
              <a:t>Phone: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1691640" y="9793224"/>
            <a:ext cx="105156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/>
          <p:cNvSpPr/>
          <p:nvPr/>
        </p:nvSpPr>
        <p:spPr>
          <a:xfrm>
            <a:off x="2999232" y="9052560"/>
            <a:ext cx="12801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BAC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3304921" y="9537192"/>
            <a:ext cx="78638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30" b="1" dirty="0">
                <a:solidFill>
                  <a:srgbClr val="232323"/>
                </a:solidFill>
                <a:latin typeface="Aptos"/>
              </a:rPr>
              <a:t>QR CODE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067812" y="9684112"/>
            <a:ext cx="1138428" cy="341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660" b="0" dirty="0">
                <a:solidFill>
                  <a:srgbClr val="232323"/>
                </a:solidFill>
                <a:latin typeface="Aptos"/>
              </a:rPr>
              <a:t>Scan to know more
(Website / Product Demo /
Video / Pitch Deck / etc.)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407408" y="9052560"/>
            <a:ext cx="299008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4526280" y="9162288"/>
            <a:ext cx="1691640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122D6C"/>
                </a:solidFill>
                <a:latin typeface="Aptos"/>
              </a:rPr>
              <a:t>NOTES / ADDITIONAL INFORMATION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4526280" y="9540240"/>
            <a:ext cx="269748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4526280" y="9723120"/>
            <a:ext cx="269748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4526280" y="9906000"/>
            <a:ext cx="2697480" cy="0"/>
          </a:xfrm>
          <a:prstGeom prst="line">
            <a:avLst/>
          </a:prstGeom>
          <a:ln w="10160">
            <a:solidFill>
              <a:srgbClr val="96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ectangle 184"/>
          <p:cNvSpPr/>
          <p:nvPr/>
        </p:nvSpPr>
        <p:spPr>
          <a:xfrm>
            <a:off x="0" y="10259568"/>
            <a:ext cx="7562088" cy="429768"/>
          </a:xfrm>
          <a:prstGeom prst="rect">
            <a:avLst/>
          </a:prstGeom>
          <a:solidFill>
            <a:srgbClr val="122D6C"/>
          </a:solidFill>
          <a:ln>
            <a:solidFill>
              <a:srgbClr val="122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274320" y="10395204"/>
            <a:ext cx="10058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dirty="0">
                <a:solidFill>
                  <a:srgbClr val="EB8126"/>
                </a:solidFill>
                <a:latin typeface="Aptos"/>
              </a:rPr>
              <a:t>Innovate.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60120" y="10395204"/>
            <a:ext cx="7315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Ignite.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490472" y="10395204"/>
            <a:ext cx="7315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238C47"/>
                </a:solidFill>
                <a:latin typeface="Aptos"/>
              </a:rPr>
              <a:t>Impact.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121408" y="10395204"/>
            <a:ext cx="914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|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487168" y="10395204"/>
            <a:ext cx="128016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Building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907792" y="10395204"/>
            <a:ext cx="7315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EB8126"/>
                </a:solidFill>
                <a:latin typeface="Aptos"/>
              </a:rPr>
              <a:t>Ideas.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383280" y="10395204"/>
            <a:ext cx="82296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Creating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858768" y="10395204"/>
            <a:ext cx="7315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238C47"/>
                </a:solidFill>
                <a:latin typeface="Aptos"/>
              </a:rPr>
              <a:t>Impact.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352544" y="10395204"/>
            <a:ext cx="11887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Empowering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074920" y="10395204"/>
            <a:ext cx="100584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1">
                <a:solidFill>
                  <a:srgbClr val="168896"/>
                </a:solidFill>
                <a:latin typeface="Aptos"/>
              </a:rPr>
              <a:t>Tomorrow.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980176" y="10395204"/>
            <a:ext cx="1188720" cy="1769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1" dirty="0">
                <a:solidFill>
                  <a:srgbClr val="EB8126"/>
                </a:solidFill>
                <a:latin typeface="Aptos"/>
              </a:rPr>
              <a:t>#</a:t>
            </a:r>
            <a:r>
              <a:rPr lang="en-US" sz="910" b="1" dirty="0">
                <a:solidFill>
                  <a:srgbClr val="EB8126"/>
                </a:solidFill>
                <a:latin typeface="Aptos"/>
              </a:rPr>
              <a:t>YourTagLine</a:t>
            </a:r>
            <a:endParaRPr sz="910" b="1" dirty="0">
              <a:solidFill>
                <a:srgbClr val="EB8126"/>
              </a:solidFill>
              <a:latin typeface="Aptos"/>
            </a:endParaRPr>
          </a:p>
        </p:txBody>
      </p:sp>
      <p:pic>
        <p:nvPicPr>
          <p:cNvPr id="199" name="Picture 198">
            <a:extLst>
              <a:ext uri="{FF2B5EF4-FFF2-40B4-BE49-F238E27FC236}">
                <a16:creationId xmlns:a16="http://schemas.microsoft.com/office/drawing/2014/main" id="{C8A32A4D-C461-7CB4-EB9D-FB88E60749A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2018" y="192023"/>
            <a:ext cx="673243" cy="673243"/>
          </a:xfrm>
          <a:prstGeom prst="rect">
            <a:avLst/>
          </a:prstGeom>
        </p:spPr>
      </p:pic>
      <p:pic>
        <p:nvPicPr>
          <p:cNvPr id="3" name="Image 36">
            <a:extLst>
              <a:ext uri="{FF2B5EF4-FFF2-40B4-BE49-F238E27FC236}">
                <a16:creationId xmlns:a16="http://schemas.microsoft.com/office/drawing/2014/main" id="{CCADD70C-6AF4-D807-9801-212268F5DD9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0" y="9071864"/>
            <a:ext cx="521208" cy="5212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648</Words>
  <Application>Microsoft Office PowerPoint</Application>
  <PresentationFormat>Custom</PresentationFormat>
  <Paragraphs>143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Surya Prakash</cp:lastModifiedBy>
  <cp:revision>5</cp:revision>
  <dcterms:created xsi:type="dcterms:W3CDTF">2013-01-27T09:14:16Z</dcterms:created>
  <dcterms:modified xsi:type="dcterms:W3CDTF">2026-09-03T17:12:39Z</dcterms:modified>
  <cp:category/>
</cp:coreProperties>
</file>