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" d="100"/>
          <a:sy n="13" d="100"/>
        </p:scale>
        <p:origin x="18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97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478C7F-5B83-8877-E448-AB8DDAFD8760}"/>
              </a:ext>
            </a:extLst>
          </p:cNvPr>
          <p:cNvSpPr txBox="1"/>
          <p:nvPr/>
        </p:nvSpPr>
        <p:spPr>
          <a:xfrm>
            <a:off x="2488406" y="914399"/>
            <a:ext cx="25298400" cy="40974963"/>
          </a:xfrm>
          <a:prstGeom prst="rect">
            <a:avLst/>
          </a:prstGeom>
          <a:noFill/>
        </p:spPr>
        <p:txBody>
          <a:bodyPr wrap="square" lIns="360000" tIns="360000" rIns="360000" bIns="360000">
            <a:noAutofit/>
          </a:bodyPr>
          <a:lstStyle/>
          <a:p>
            <a:pPr algn="ctr">
              <a:spcAft>
                <a:spcPts val="2400"/>
              </a:spcAft>
              <a:buNone/>
            </a:pPr>
            <a:r>
              <a:rPr lang="en-IN" sz="6000" b="1" dirty="0"/>
              <a:t>A0 POSTER PREPARATION GUIDELINES</a:t>
            </a:r>
          </a:p>
          <a:p>
            <a:pPr>
              <a:spcAft>
                <a:spcPts val="2400"/>
              </a:spcAft>
              <a:buNone/>
            </a:pPr>
            <a:r>
              <a:rPr lang="en-IN" sz="4000" b="1" dirty="0"/>
              <a:t>Please use the provided template to prepare your Startup / Innovation / Project Poster.</a:t>
            </a:r>
            <a:endParaRPr lang="en-IN" sz="4000" dirty="0"/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Poster Format</a:t>
            </a:r>
            <a:endParaRPr lang="en-IN" sz="48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Poster Size: </a:t>
            </a:r>
            <a:r>
              <a:rPr lang="en-IN" sz="4000" b="1" dirty="0"/>
              <a:t>A0 Portrait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Dimensions: </a:t>
            </a:r>
            <a:r>
              <a:rPr lang="en-IN" sz="4000" b="1" dirty="0"/>
              <a:t>841 × 1189 mm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Use the provided </a:t>
            </a:r>
            <a:r>
              <a:rPr lang="en-IN" sz="4000" b="1" dirty="0"/>
              <a:t>PPTX template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Do not change the overall poster size or basic layout</a:t>
            </a:r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Content to Include</a:t>
            </a:r>
            <a:endParaRPr lang="en-IN" sz="48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Startup / Innovation / Project Title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Startup / Team Name and Team Members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Problem / Need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Motivation / Opportunity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Proposed Solution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How It Works / Workflow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Prototype / Product Images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Key Features / Innovation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Applications / Impact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Current Status &amp; Future Plan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Contact Details and QR Code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What support/collaboration you are looking for</a:t>
            </a:r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Poster Preparation</a:t>
            </a:r>
            <a:endParaRPr lang="en-IN" sz="48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Keep the content </a:t>
            </a:r>
            <a:r>
              <a:rPr lang="en-IN" sz="4000" b="1" dirty="0"/>
              <a:t>short, clear and visual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Prefer </a:t>
            </a:r>
            <a:r>
              <a:rPr lang="en-IN" sz="4000" b="1" dirty="0"/>
              <a:t>bullet points instead of long paragraphs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Use </a:t>
            </a:r>
            <a:r>
              <a:rPr lang="en-IN" sz="4000" b="1" dirty="0"/>
              <a:t>high-quality images, diagrams, screenshots or charts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Highlight the </a:t>
            </a:r>
            <a:r>
              <a:rPr lang="en-IN" sz="4000" b="1" dirty="0"/>
              <a:t>innovation, product value and impact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Use large, readable fonts suitable for viewing from a distance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Do not overcrowd the poster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Replace all placeholder text and images before submission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Add your </a:t>
            </a:r>
            <a:r>
              <a:rPr lang="en-IN" sz="4000" b="1" dirty="0"/>
              <a:t>startup/team logo</a:t>
            </a:r>
            <a:r>
              <a:rPr lang="en-IN" sz="4000" dirty="0"/>
              <a:t>, wherever applicable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Add a </a:t>
            </a:r>
            <a:r>
              <a:rPr lang="en-IN" sz="4000" b="1" dirty="0"/>
              <a:t>working QR code</a:t>
            </a:r>
            <a:r>
              <a:rPr lang="en-IN" sz="4000" dirty="0"/>
              <a:t> linked to your website, product demo, video, brochure, LinkedIn, etc.</a:t>
            </a:r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Before Submission</a:t>
            </a:r>
            <a:endParaRPr lang="en-IN" sz="48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Check spelling, names and contact details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Ensure all images are clear and properly aligned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Verify that the QR code works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Review the complete poster before final submission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Submit the </a:t>
            </a:r>
            <a:r>
              <a:rPr lang="en-IN" sz="4000" b="1" dirty="0"/>
              <a:t>final poster in the editable PPTX</a:t>
            </a:r>
            <a:endParaRPr lang="en-IN" sz="4000" dirty="0"/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Note:</a:t>
            </a:r>
            <a:br>
              <a:rPr lang="en-IN" sz="4000" dirty="0"/>
            </a:br>
            <a:r>
              <a:rPr lang="en-IN" sz="4000" dirty="0"/>
              <a:t>The template is intended to maintain a uniform presentation across all exhibitors. Teams may replace the placeholder content with their own information while retaining the overall structure and format.</a:t>
            </a:r>
          </a:p>
        </p:txBody>
      </p:sp>
    </p:spTree>
    <p:extLst>
      <p:ext uri="{BB962C8B-B14F-4D97-AF65-F5344CB8AC3E}">
        <p14:creationId xmlns:p14="http://schemas.microsoft.com/office/powerpoint/2010/main" val="1915930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182880"/>
          </a:xfrm>
          <a:prstGeom prst="rect">
            <a:avLst/>
          </a:prstGeom>
          <a:solidFill>
            <a:srgbClr val="1B387D"/>
          </a:solidFill>
          <a:ln w="12700">
            <a:solidFill>
              <a:srgbClr val="2F3D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0604" y="2681484"/>
            <a:ext cx="3246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IIIT ALLAHABAD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60604" y="3193548"/>
            <a:ext cx="3246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E7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प्रज्ञानं ब्रह्म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585216"/>
            <a:ext cx="1915668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2-DAY STARTUP EXHIBITION CUM FUNDING OPPORTUNITIES EVENT</a:t>
            </a:r>
            <a:endParaRPr lang="en-US" sz="4400" dirty="0"/>
          </a:p>
        </p:txBody>
      </p:sp>
      <p:pic>
        <p:nvPicPr>
          <p:cNvPr id="8" name="Image 0" descr="/mnt/data/icon_asset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1481328"/>
            <a:ext cx="540000" cy="540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55480" y="1499616"/>
            <a:ext cx="6035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19ᵗʰ – 20ᵗʰ June, 2026</a:t>
            </a:r>
            <a:endParaRPr lang="en-US" sz="3200" dirty="0"/>
          </a:p>
        </p:txBody>
      </p:sp>
      <p:pic>
        <p:nvPicPr>
          <p:cNvPr id="10" name="Image 1" descr="/mnt/data/icon_assets/map-m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9680" y="1481328"/>
            <a:ext cx="540000" cy="540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080992" y="1499616"/>
            <a:ext cx="44805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IIIT Allahabad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5166360" y="2404872"/>
            <a:ext cx="199339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B38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STARTUP / INNOVATION / PROJECT TITLE</a:t>
            </a:r>
            <a:endParaRPr lang="en-US" sz="6600" dirty="0"/>
          </a:p>
        </p:txBody>
      </p:sp>
      <p:sp>
        <p:nvSpPr>
          <p:cNvPr id="17" name="Text 13"/>
          <p:cNvSpPr/>
          <p:nvPr/>
        </p:nvSpPr>
        <p:spPr>
          <a:xfrm>
            <a:off x="9418320" y="3456432"/>
            <a:ext cx="11475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6E7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/ Team Name</a:t>
            </a:r>
            <a:endParaRPr lang="en-US" sz="3600" dirty="0"/>
          </a:p>
        </p:txBody>
      </p:sp>
      <p:pic>
        <p:nvPicPr>
          <p:cNvPr id="18" name="Image 2" descr="/mnt/data/icon_assets/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68" y="4204208"/>
            <a:ext cx="468000" cy="468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4224528"/>
            <a:ext cx="9326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Founder(s) / Team Member(s): ________________________________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10588752" y="4224528"/>
            <a:ext cx="182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E7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11045952" y="4224528"/>
            <a:ext cx="2834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IIITA Connection: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14218920" y="4224528"/>
            <a:ext cx="10881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Incubated Startup    □ Student Startup    □ Student Innovation    □ Alumni Startup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26709624" y="512064"/>
            <a:ext cx="2880360" cy="29558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B0C0"/>
            </a:solidFill>
            <a:prstDash val="solid"/>
          </a:ln>
        </p:spPr>
      </p:sp>
      <p:pic>
        <p:nvPicPr>
          <p:cNvPr id="24" name="Image 3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0252" y="666137"/>
            <a:ext cx="1800000" cy="18000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985468" y="2639568"/>
            <a:ext cx="2331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/ TEAM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</a:t>
            </a:r>
            <a:endParaRPr lang="en-US" sz="2400" dirty="0"/>
          </a:p>
        </p:txBody>
      </p:sp>
      <p:sp>
        <p:nvSpPr>
          <p:cNvPr id="26" name="Shape 20"/>
          <p:cNvSpPr/>
          <p:nvPr/>
        </p:nvSpPr>
        <p:spPr>
          <a:xfrm>
            <a:off x="502920" y="5501640"/>
            <a:ext cx="9549384" cy="1138428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4605">
            <a:solidFill>
              <a:srgbClr val="AEC2E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2648" y="5629656"/>
            <a:ext cx="9329928" cy="1060704"/>
          </a:xfrm>
          <a:prstGeom prst="roundRect">
            <a:avLst/>
          </a:prstGeom>
          <a:solidFill>
            <a:srgbClr val="ECF3FC"/>
          </a:solidFill>
          <a:ln w="6350">
            <a:solidFill>
              <a:srgbClr val="C6D7F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1520" y="5757672"/>
            <a:ext cx="868680" cy="804672"/>
          </a:xfrm>
          <a:prstGeom prst="roundRect">
            <a:avLst/>
          </a:prstGeom>
          <a:solidFill>
            <a:srgbClr val="1C58C3"/>
          </a:solidFill>
          <a:ln w="5080">
            <a:solidFill>
              <a:srgbClr val="1C58C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58952" y="58765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600" dirty="0"/>
          </a:p>
        </p:txBody>
      </p:sp>
      <p:sp>
        <p:nvSpPr>
          <p:cNvPr id="30" name="Text 24"/>
          <p:cNvSpPr/>
          <p:nvPr/>
        </p:nvSpPr>
        <p:spPr>
          <a:xfrm>
            <a:off x="1755648" y="58674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5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/ NEED</a:t>
            </a:r>
            <a:endParaRPr lang="en-US" sz="3600" dirty="0"/>
          </a:p>
        </p:txBody>
      </p:sp>
      <p:pic>
        <p:nvPicPr>
          <p:cNvPr id="31" name="Image 4" descr="/mnt/data/icon_assets/question-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7048" y="5812536"/>
            <a:ext cx="566928" cy="56692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68680" y="696468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problem are you solving?</a:t>
            </a:r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960120" y="753160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34" name="Shape 27"/>
          <p:cNvSpPr/>
          <p:nvPr/>
        </p:nvSpPr>
        <p:spPr>
          <a:xfrm>
            <a:off x="1289304" y="776935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60120" y="809853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36" name="Shape 29"/>
          <p:cNvSpPr/>
          <p:nvPr/>
        </p:nvSpPr>
        <p:spPr>
          <a:xfrm>
            <a:off x="1289304" y="833628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60120" y="866546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38" name="Shape 31"/>
          <p:cNvSpPr/>
          <p:nvPr/>
        </p:nvSpPr>
        <p:spPr>
          <a:xfrm>
            <a:off x="1289304" y="890320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60120" y="923239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40" name="Shape 33"/>
          <p:cNvSpPr/>
          <p:nvPr/>
        </p:nvSpPr>
        <p:spPr>
          <a:xfrm>
            <a:off x="1289304" y="947013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60120" y="9799320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42" name="Shape 35"/>
          <p:cNvSpPr/>
          <p:nvPr/>
        </p:nvSpPr>
        <p:spPr>
          <a:xfrm>
            <a:off x="1289304" y="10037064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960120" y="10805160"/>
            <a:ext cx="8634984" cy="5669280"/>
          </a:xfrm>
          <a:prstGeom prst="roundRect">
            <a:avLst/>
          </a:prstGeom>
          <a:solidFill>
            <a:srgbClr val="ECF3FC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44" name="Image 5" descr="/mnt/data/icon_assets/question-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1832" y="12206935"/>
            <a:ext cx="1051560" cy="105156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280160" y="13979957"/>
            <a:ext cx="7994904" cy="15873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C5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relevant image / statistic / market insight</a:t>
            </a:r>
            <a:endParaRPr lang="en-US" sz="2400" dirty="0"/>
          </a:p>
        </p:txBody>
      </p:sp>
      <p:sp>
        <p:nvSpPr>
          <p:cNvPr id="46" name="Shape 38"/>
          <p:cNvSpPr/>
          <p:nvPr/>
        </p:nvSpPr>
        <p:spPr>
          <a:xfrm>
            <a:off x="502920" y="17251680"/>
            <a:ext cx="9549384" cy="11384280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4605">
            <a:solidFill>
              <a:srgbClr val="AEC2E8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612648" y="17379696"/>
            <a:ext cx="9329928" cy="1060704"/>
          </a:xfrm>
          <a:prstGeom prst="roundRect">
            <a:avLst/>
          </a:prstGeom>
          <a:solidFill>
            <a:srgbClr val="ECF3FC"/>
          </a:solidFill>
          <a:ln w="6350">
            <a:solidFill>
              <a:srgbClr val="C6D7F1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731520" y="17507712"/>
            <a:ext cx="868680" cy="804672"/>
          </a:xfrm>
          <a:prstGeom prst="roundRect">
            <a:avLst/>
          </a:prstGeom>
          <a:solidFill>
            <a:srgbClr val="1C58C3"/>
          </a:solidFill>
          <a:ln w="5080">
            <a:solidFill>
              <a:srgbClr val="1C58C3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58952" y="1762658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600" dirty="0"/>
          </a:p>
        </p:txBody>
      </p:sp>
      <p:sp>
        <p:nvSpPr>
          <p:cNvPr id="50" name="Text 42"/>
          <p:cNvSpPr/>
          <p:nvPr/>
        </p:nvSpPr>
        <p:spPr>
          <a:xfrm>
            <a:off x="1755648" y="1761744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5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 / OPPORTUNITY</a:t>
            </a:r>
            <a:endParaRPr lang="en-US" sz="3600" dirty="0"/>
          </a:p>
        </p:txBody>
      </p:sp>
      <p:pic>
        <p:nvPicPr>
          <p:cNvPr id="51" name="Image 6" descr="/mnt/data/icon_assets/bulls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7048" y="17562576"/>
            <a:ext cx="566928" cy="56692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868680" y="1871472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this important?</a:t>
            </a:r>
            <a:endParaRPr lang="en-US" sz="2400" dirty="0"/>
          </a:p>
        </p:txBody>
      </p:sp>
      <p:sp>
        <p:nvSpPr>
          <p:cNvPr id="53" name="Text 44"/>
          <p:cNvSpPr/>
          <p:nvPr/>
        </p:nvSpPr>
        <p:spPr>
          <a:xfrm>
            <a:off x="960120" y="1928164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54" name="Shape 45"/>
          <p:cNvSpPr/>
          <p:nvPr/>
        </p:nvSpPr>
        <p:spPr>
          <a:xfrm>
            <a:off x="1289304" y="1951939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960120" y="1984857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56" name="Shape 47"/>
          <p:cNvSpPr/>
          <p:nvPr/>
        </p:nvSpPr>
        <p:spPr>
          <a:xfrm>
            <a:off x="1289304" y="2008632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0120" y="2041550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58" name="Shape 49"/>
          <p:cNvSpPr/>
          <p:nvPr/>
        </p:nvSpPr>
        <p:spPr>
          <a:xfrm>
            <a:off x="1289304" y="2065324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960120" y="2098243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60" name="Shape 51"/>
          <p:cNvSpPr/>
          <p:nvPr/>
        </p:nvSpPr>
        <p:spPr>
          <a:xfrm>
            <a:off x="1289304" y="2122017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960120" y="21549360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62" name="Shape 53"/>
          <p:cNvSpPr/>
          <p:nvPr/>
        </p:nvSpPr>
        <p:spPr>
          <a:xfrm>
            <a:off x="1289304" y="21787104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960120" y="22555200"/>
            <a:ext cx="8634984" cy="5669280"/>
          </a:xfrm>
          <a:prstGeom prst="roundRect">
            <a:avLst/>
          </a:prstGeom>
          <a:solidFill>
            <a:srgbClr val="ECF3FC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64" name="Image 7" descr="/mnt/data/icon_assets/line-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1832" y="23956975"/>
            <a:ext cx="1051560" cy="105156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1280160" y="25729997"/>
            <a:ext cx="7994904" cy="15873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C5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market size / trend / opportunity data or image</a:t>
            </a:r>
            <a:endParaRPr lang="en-US" sz="2400" dirty="0"/>
          </a:p>
        </p:txBody>
      </p:sp>
      <p:sp>
        <p:nvSpPr>
          <p:cNvPr id="66" name="Shape 56"/>
          <p:cNvSpPr/>
          <p:nvPr/>
        </p:nvSpPr>
        <p:spPr>
          <a:xfrm>
            <a:off x="10363200" y="5501640"/>
            <a:ext cx="9549384" cy="8321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4605">
            <a:solidFill>
              <a:srgbClr val="B6DFC2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10472928" y="5629656"/>
            <a:ext cx="9329928" cy="1060704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C6E5D0"/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10591800" y="5757672"/>
            <a:ext cx="868680" cy="804672"/>
          </a:xfrm>
          <a:prstGeom prst="roundRect">
            <a:avLst/>
          </a:prstGeom>
          <a:solidFill>
            <a:srgbClr val="1F804C"/>
          </a:solidFill>
          <a:ln w="5080">
            <a:solidFill>
              <a:srgbClr val="1F804C"/>
            </a:solidFill>
            <a:prstDash val="solid"/>
          </a:ln>
        </p:spPr>
      </p:sp>
      <p:sp>
        <p:nvSpPr>
          <p:cNvPr id="69" name="Text 59"/>
          <p:cNvSpPr/>
          <p:nvPr/>
        </p:nvSpPr>
        <p:spPr>
          <a:xfrm>
            <a:off x="10619232" y="58765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600" dirty="0"/>
          </a:p>
        </p:txBody>
      </p:sp>
      <p:sp>
        <p:nvSpPr>
          <p:cNvPr id="70" name="Text 60"/>
          <p:cNvSpPr/>
          <p:nvPr/>
        </p:nvSpPr>
        <p:spPr>
          <a:xfrm>
            <a:off x="11615928" y="58674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3600" dirty="0"/>
          </a:p>
        </p:txBody>
      </p:sp>
      <p:pic>
        <p:nvPicPr>
          <p:cNvPr id="71" name="Image 8" descr="/mnt/data/icon_assets/lightbulb-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07328" y="5812536"/>
            <a:ext cx="566928" cy="566928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10728960" y="696468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overview of your product / technology / solution.</a:t>
            </a:r>
            <a:endParaRPr lang="en-US" sz="2400" dirty="0"/>
          </a:p>
        </p:txBody>
      </p:sp>
      <p:sp>
        <p:nvSpPr>
          <p:cNvPr id="73" name="Text 62"/>
          <p:cNvSpPr/>
          <p:nvPr/>
        </p:nvSpPr>
        <p:spPr>
          <a:xfrm>
            <a:off x="10820400" y="753160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74" name="Shape 63"/>
          <p:cNvSpPr/>
          <p:nvPr/>
        </p:nvSpPr>
        <p:spPr>
          <a:xfrm>
            <a:off x="11149584" y="776935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10820400" y="809853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76" name="Shape 65"/>
          <p:cNvSpPr/>
          <p:nvPr/>
        </p:nvSpPr>
        <p:spPr>
          <a:xfrm>
            <a:off x="11149584" y="833628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77" name="Text 66"/>
          <p:cNvSpPr/>
          <p:nvPr/>
        </p:nvSpPr>
        <p:spPr>
          <a:xfrm>
            <a:off x="10820400" y="866546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78" name="Shape 67"/>
          <p:cNvSpPr/>
          <p:nvPr/>
        </p:nvSpPr>
        <p:spPr>
          <a:xfrm>
            <a:off x="11149584" y="890320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79" name="Text 68"/>
          <p:cNvSpPr/>
          <p:nvPr/>
        </p:nvSpPr>
        <p:spPr>
          <a:xfrm>
            <a:off x="10820400" y="923239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80" name="Shape 69"/>
          <p:cNvSpPr/>
          <p:nvPr/>
        </p:nvSpPr>
        <p:spPr>
          <a:xfrm>
            <a:off x="11149584" y="947013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81" name="Shape 70"/>
          <p:cNvSpPr/>
          <p:nvPr/>
        </p:nvSpPr>
        <p:spPr>
          <a:xfrm>
            <a:off x="10820400" y="10238232"/>
            <a:ext cx="8634984" cy="3172968"/>
          </a:xfrm>
          <a:prstGeom prst="roundRect">
            <a:avLst/>
          </a:prstGeom>
          <a:solidFill>
            <a:srgbClr val="EDF7EF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82" name="Image 9" descr="/mnt/data/icon_assets/lightbulb-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12112" y="10791261"/>
            <a:ext cx="1051560" cy="1051560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11140440" y="12015094"/>
            <a:ext cx="7994904" cy="88843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concept image / product illustration</a:t>
            </a:r>
            <a:endParaRPr lang="en-US" sz="2400" dirty="0"/>
          </a:p>
        </p:txBody>
      </p:sp>
      <p:sp>
        <p:nvSpPr>
          <p:cNvPr id="84" name="Shape 72"/>
          <p:cNvSpPr/>
          <p:nvPr/>
        </p:nvSpPr>
        <p:spPr>
          <a:xfrm>
            <a:off x="10363200" y="14188440"/>
            <a:ext cx="9549384" cy="6720840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4605">
            <a:solidFill>
              <a:srgbClr val="B6DFC2"/>
            </a:solidFill>
            <a:prstDash val="solid"/>
          </a:ln>
        </p:spPr>
      </p:sp>
      <p:sp>
        <p:nvSpPr>
          <p:cNvPr id="85" name="Shape 73"/>
          <p:cNvSpPr/>
          <p:nvPr/>
        </p:nvSpPr>
        <p:spPr>
          <a:xfrm>
            <a:off x="10472928" y="14316456"/>
            <a:ext cx="9329928" cy="1060704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C6E5D0"/>
            </a:solidFill>
            <a:prstDash val="solid"/>
          </a:ln>
        </p:spPr>
      </p:sp>
      <p:sp>
        <p:nvSpPr>
          <p:cNvPr id="86" name="Shape 74"/>
          <p:cNvSpPr/>
          <p:nvPr/>
        </p:nvSpPr>
        <p:spPr>
          <a:xfrm>
            <a:off x="10591800" y="14444472"/>
            <a:ext cx="868680" cy="804672"/>
          </a:xfrm>
          <a:prstGeom prst="roundRect">
            <a:avLst/>
          </a:prstGeom>
          <a:solidFill>
            <a:srgbClr val="1F804C"/>
          </a:solidFill>
          <a:ln w="5080">
            <a:solidFill>
              <a:srgbClr val="1F804C"/>
            </a:solidFill>
            <a:prstDash val="solid"/>
          </a:ln>
        </p:spPr>
      </p:sp>
      <p:sp>
        <p:nvSpPr>
          <p:cNvPr id="87" name="Text 75"/>
          <p:cNvSpPr/>
          <p:nvPr/>
        </p:nvSpPr>
        <p:spPr>
          <a:xfrm>
            <a:off x="10619232" y="145633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600" dirty="0"/>
          </a:p>
        </p:txBody>
      </p:sp>
      <p:sp>
        <p:nvSpPr>
          <p:cNvPr id="88" name="Text 76"/>
          <p:cNvSpPr/>
          <p:nvPr/>
        </p:nvSpPr>
        <p:spPr>
          <a:xfrm>
            <a:off x="11615928" y="145542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3600" dirty="0"/>
          </a:p>
        </p:txBody>
      </p:sp>
      <p:pic>
        <p:nvPicPr>
          <p:cNvPr id="89" name="Image 10" descr="/mnt/data/icon_assets/cog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07328" y="14499336"/>
            <a:ext cx="566928" cy="566928"/>
          </a:xfrm>
          <a:prstGeom prst="rect">
            <a:avLst/>
          </a:prstGeom>
        </p:spPr>
      </p:pic>
      <p:sp>
        <p:nvSpPr>
          <p:cNvPr id="90" name="Text 77"/>
          <p:cNvSpPr/>
          <p:nvPr/>
        </p:nvSpPr>
        <p:spPr>
          <a:xfrm>
            <a:off x="10728960" y="15697200"/>
            <a:ext cx="881786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working / workflow / architecture.</a:t>
            </a:r>
            <a:endParaRPr lang="en-US" sz="2400" dirty="0"/>
          </a:p>
        </p:txBody>
      </p:sp>
      <p:sp>
        <p:nvSpPr>
          <p:cNvPr id="91" name="Shape 78"/>
          <p:cNvSpPr/>
          <p:nvPr/>
        </p:nvSpPr>
        <p:spPr>
          <a:xfrm>
            <a:off x="11323320" y="16565880"/>
            <a:ext cx="1051560" cy="105156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6DFC2"/>
            </a:solidFill>
            <a:prstDash val="solid"/>
          </a:ln>
        </p:spPr>
      </p:sp>
      <p:pic>
        <p:nvPicPr>
          <p:cNvPr id="92" name="Image 11" descr="/mnt/data/icon_assets/user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61064" y="16767048"/>
            <a:ext cx="566928" cy="566928"/>
          </a:xfrm>
          <a:prstGeom prst="rect">
            <a:avLst/>
          </a:prstGeom>
        </p:spPr>
      </p:pic>
      <p:sp>
        <p:nvSpPr>
          <p:cNvPr id="93" name="Text 79"/>
          <p:cNvSpPr/>
          <p:nvPr/>
        </p:nvSpPr>
        <p:spPr>
          <a:xfrm>
            <a:off x="11158728" y="177363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2000" dirty="0"/>
          </a:p>
        </p:txBody>
      </p:sp>
      <p:sp>
        <p:nvSpPr>
          <p:cNvPr id="94" name="Text 80"/>
          <p:cNvSpPr/>
          <p:nvPr/>
        </p:nvSpPr>
        <p:spPr>
          <a:xfrm>
            <a:off x="12466320" y="16849344"/>
            <a:ext cx="7863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95" name="Shape 81"/>
          <p:cNvSpPr/>
          <p:nvPr/>
        </p:nvSpPr>
        <p:spPr>
          <a:xfrm>
            <a:off x="13700760" y="16565880"/>
            <a:ext cx="1051560" cy="105156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6DFC2"/>
            </a:solidFill>
            <a:prstDash val="solid"/>
          </a:ln>
        </p:spPr>
      </p:sp>
      <p:pic>
        <p:nvPicPr>
          <p:cNvPr id="96" name="Image 12" descr="/mnt/data/icon_assets/ge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38504" y="16767048"/>
            <a:ext cx="566928" cy="566928"/>
          </a:xfrm>
          <a:prstGeom prst="rect">
            <a:avLst/>
          </a:prstGeom>
        </p:spPr>
      </p:pic>
      <p:sp>
        <p:nvSpPr>
          <p:cNvPr id="97" name="Text 82"/>
          <p:cNvSpPr/>
          <p:nvPr/>
        </p:nvSpPr>
        <p:spPr>
          <a:xfrm>
            <a:off x="13536168" y="177363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2000" dirty="0"/>
          </a:p>
        </p:txBody>
      </p:sp>
      <p:sp>
        <p:nvSpPr>
          <p:cNvPr id="98" name="Text 83"/>
          <p:cNvSpPr/>
          <p:nvPr/>
        </p:nvSpPr>
        <p:spPr>
          <a:xfrm>
            <a:off x="14843760" y="16849344"/>
            <a:ext cx="7863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99" name="Shape 84"/>
          <p:cNvSpPr/>
          <p:nvPr/>
        </p:nvSpPr>
        <p:spPr>
          <a:xfrm>
            <a:off x="16078200" y="16565880"/>
            <a:ext cx="1051560" cy="105156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6DFC2"/>
            </a:solidFill>
            <a:prstDash val="solid"/>
          </a:ln>
        </p:spPr>
      </p:sp>
      <p:pic>
        <p:nvPicPr>
          <p:cNvPr id="100" name="Image 13" descr="/mnt/data/icon_assets/cub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15944" y="16767048"/>
            <a:ext cx="566928" cy="566928"/>
          </a:xfrm>
          <a:prstGeom prst="rect">
            <a:avLst/>
          </a:prstGeom>
        </p:spPr>
      </p:pic>
      <p:sp>
        <p:nvSpPr>
          <p:cNvPr id="101" name="Text 85"/>
          <p:cNvSpPr/>
          <p:nvPr/>
        </p:nvSpPr>
        <p:spPr>
          <a:xfrm>
            <a:off x="15913608" y="177363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2000" dirty="0"/>
          </a:p>
        </p:txBody>
      </p:sp>
      <p:sp>
        <p:nvSpPr>
          <p:cNvPr id="102" name="Text 86"/>
          <p:cNvSpPr/>
          <p:nvPr/>
        </p:nvSpPr>
        <p:spPr>
          <a:xfrm>
            <a:off x="17221200" y="16849344"/>
            <a:ext cx="7863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103" name="Shape 87"/>
          <p:cNvSpPr/>
          <p:nvPr/>
        </p:nvSpPr>
        <p:spPr>
          <a:xfrm>
            <a:off x="18455640" y="16565880"/>
            <a:ext cx="1051560" cy="105156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6DFC2"/>
            </a:solidFill>
            <a:prstDash val="solid"/>
          </a:ln>
        </p:spPr>
      </p:sp>
      <p:pic>
        <p:nvPicPr>
          <p:cNvPr id="104" name="Image 14" descr="/mnt/data/icon_assets/check-circle-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693384" y="16767048"/>
            <a:ext cx="566928" cy="566928"/>
          </a:xfrm>
          <a:prstGeom prst="rect">
            <a:avLst/>
          </a:prstGeom>
        </p:spPr>
      </p:pic>
      <p:sp>
        <p:nvSpPr>
          <p:cNvPr id="105" name="Text 88"/>
          <p:cNvSpPr/>
          <p:nvPr/>
        </p:nvSpPr>
        <p:spPr>
          <a:xfrm>
            <a:off x="18291048" y="177363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2000" dirty="0"/>
          </a:p>
        </p:txBody>
      </p:sp>
      <p:sp>
        <p:nvSpPr>
          <p:cNvPr id="106" name="Shape 89"/>
          <p:cNvSpPr/>
          <p:nvPr/>
        </p:nvSpPr>
        <p:spPr>
          <a:xfrm>
            <a:off x="10774680" y="18623280"/>
            <a:ext cx="8726424" cy="1143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107" name="Image 15" descr="/mnt/data/icon_assets/sitema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920722" y="18794730"/>
            <a:ext cx="434340" cy="434340"/>
          </a:xfrm>
          <a:prstGeom prst="rect">
            <a:avLst/>
          </a:prstGeom>
        </p:spPr>
      </p:pic>
      <p:sp>
        <p:nvSpPr>
          <p:cNvPr id="108" name="Text 90"/>
          <p:cNvSpPr/>
          <p:nvPr/>
        </p:nvSpPr>
        <p:spPr>
          <a:xfrm>
            <a:off x="11094720" y="19263360"/>
            <a:ext cx="808634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your diagram / architecture / workflow</a:t>
            </a:r>
            <a:endParaRPr lang="en-US" sz="2400" dirty="0"/>
          </a:p>
        </p:txBody>
      </p:sp>
      <p:sp>
        <p:nvSpPr>
          <p:cNvPr id="109" name="Shape 91"/>
          <p:cNvSpPr/>
          <p:nvPr/>
        </p:nvSpPr>
        <p:spPr>
          <a:xfrm>
            <a:off x="10363200" y="21275040"/>
            <a:ext cx="9549384" cy="7360920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14605">
            <a:solidFill>
              <a:srgbClr val="B6DFC2"/>
            </a:solidFill>
            <a:prstDash val="solid"/>
          </a:ln>
        </p:spPr>
      </p:sp>
      <p:sp>
        <p:nvSpPr>
          <p:cNvPr id="110" name="Shape 92"/>
          <p:cNvSpPr/>
          <p:nvPr/>
        </p:nvSpPr>
        <p:spPr>
          <a:xfrm>
            <a:off x="10472928" y="21403056"/>
            <a:ext cx="9329928" cy="1060704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C6E5D0"/>
            </a:solidFill>
            <a:prstDash val="solid"/>
          </a:ln>
        </p:spPr>
      </p:sp>
      <p:sp>
        <p:nvSpPr>
          <p:cNvPr id="111" name="Shape 93"/>
          <p:cNvSpPr/>
          <p:nvPr/>
        </p:nvSpPr>
        <p:spPr>
          <a:xfrm>
            <a:off x="10591800" y="21531072"/>
            <a:ext cx="868680" cy="804672"/>
          </a:xfrm>
          <a:prstGeom prst="roundRect">
            <a:avLst/>
          </a:prstGeom>
          <a:solidFill>
            <a:srgbClr val="1F804C"/>
          </a:solidFill>
          <a:ln w="5080">
            <a:solidFill>
              <a:srgbClr val="1F804C"/>
            </a:solidFill>
            <a:prstDash val="solid"/>
          </a:ln>
        </p:spPr>
      </p:sp>
      <p:sp>
        <p:nvSpPr>
          <p:cNvPr id="112" name="Text 94"/>
          <p:cNvSpPr/>
          <p:nvPr/>
        </p:nvSpPr>
        <p:spPr>
          <a:xfrm>
            <a:off x="10619232" y="216499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3600" dirty="0"/>
          </a:p>
        </p:txBody>
      </p:sp>
      <p:sp>
        <p:nvSpPr>
          <p:cNvPr id="113" name="Text 95"/>
          <p:cNvSpPr/>
          <p:nvPr/>
        </p:nvSpPr>
        <p:spPr>
          <a:xfrm>
            <a:off x="11615928" y="216408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/ PRODUCT</a:t>
            </a:r>
            <a:endParaRPr lang="en-US" sz="3600" dirty="0"/>
          </a:p>
        </p:txBody>
      </p:sp>
      <p:pic>
        <p:nvPicPr>
          <p:cNvPr id="114" name="Image 16" descr="/mnt/data/icon_assets/cub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07328" y="21585936"/>
            <a:ext cx="566928" cy="566928"/>
          </a:xfrm>
          <a:prstGeom prst="rect">
            <a:avLst/>
          </a:prstGeom>
        </p:spPr>
      </p:pic>
      <p:sp>
        <p:nvSpPr>
          <p:cNvPr id="115" name="Text 96"/>
          <p:cNvSpPr/>
          <p:nvPr/>
        </p:nvSpPr>
        <p:spPr>
          <a:xfrm>
            <a:off x="10728960" y="22765512"/>
            <a:ext cx="881786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Showcase your prototype / product images.</a:t>
            </a:r>
            <a:endParaRPr lang="en-US" sz="2400" dirty="0"/>
          </a:p>
        </p:txBody>
      </p:sp>
      <p:sp>
        <p:nvSpPr>
          <p:cNvPr id="116" name="Shape 97"/>
          <p:cNvSpPr/>
          <p:nvPr/>
        </p:nvSpPr>
        <p:spPr>
          <a:xfrm>
            <a:off x="10820400" y="23561040"/>
            <a:ext cx="8634984" cy="3017520"/>
          </a:xfrm>
          <a:prstGeom prst="roundRect">
            <a:avLst/>
          </a:prstGeom>
          <a:solidFill>
            <a:srgbClr val="EDF7EF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117" name="Image 17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2112" y="24061217"/>
            <a:ext cx="1051560" cy="1051560"/>
          </a:xfrm>
          <a:prstGeom prst="rect">
            <a:avLst/>
          </a:prstGeom>
        </p:spPr>
      </p:pic>
      <p:sp>
        <p:nvSpPr>
          <p:cNvPr id="118" name="Text 98"/>
          <p:cNvSpPr/>
          <p:nvPr/>
        </p:nvSpPr>
        <p:spPr>
          <a:xfrm>
            <a:off x="11140440" y="25250851"/>
            <a:ext cx="7994904" cy="84490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high-quality photos / screenshots of prototype or product</a:t>
            </a:r>
            <a:endParaRPr lang="en-US" sz="2400" dirty="0"/>
          </a:p>
        </p:txBody>
      </p:sp>
      <p:sp>
        <p:nvSpPr>
          <p:cNvPr id="119" name="Shape 99"/>
          <p:cNvSpPr/>
          <p:nvPr/>
        </p:nvSpPr>
        <p:spPr>
          <a:xfrm>
            <a:off x="10957560" y="27218640"/>
            <a:ext cx="1463040" cy="841248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EDF7EF"/>
            </a:solidFill>
            <a:prstDash val="solid"/>
          </a:ln>
        </p:spPr>
      </p:sp>
      <p:pic>
        <p:nvPicPr>
          <p:cNvPr id="120" name="Image 18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3048" y="27383232"/>
            <a:ext cx="438912" cy="438912"/>
          </a:xfrm>
          <a:prstGeom prst="rect">
            <a:avLst/>
          </a:prstGeom>
        </p:spPr>
      </p:pic>
      <p:sp>
        <p:nvSpPr>
          <p:cNvPr id="121" name="Shape 100"/>
          <p:cNvSpPr/>
          <p:nvPr/>
        </p:nvSpPr>
        <p:spPr>
          <a:xfrm>
            <a:off x="13133832" y="27218640"/>
            <a:ext cx="1463040" cy="841248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EDF7EF"/>
            </a:solidFill>
            <a:prstDash val="solid"/>
          </a:ln>
        </p:spPr>
      </p:sp>
      <p:pic>
        <p:nvPicPr>
          <p:cNvPr id="122" name="Image 19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9320" y="27383232"/>
            <a:ext cx="438912" cy="438912"/>
          </a:xfrm>
          <a:prstGeom prst="rect">
            <a:avLst/>
          </a:prstGeom>
        </p:spPr>
      </p:pic>
      <p:sp>
        <p:nvSpPr>
          <p:cNvPr id="123" name="Shape 101"/>
          <p:cNvSpPr/>
          <p:nvPr/>
        </p:nvSpPr>
        <p:spPr>
          <a:xfrm>
            <a:off x="15310104" y="27218640"/>
            <a:ext cx="1463040" cy="841248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EDF7EF"/>
            </a:solidFill>
            <a:prstDash val="solid"/>
          </a:ln>
        </p:spPr>
      </p:sp>
      <p:pic>
        <p:nvPicPr>
          <p:cNvPr id="124" name="Image 20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5592" y="27383232"/>
            <a:ext cx="438912" cy="438912"/>
          </a:xfrm>
          <a:prstGeom prst="rect">
            <a:avLst/>
          </a:prstGeom>
        </p:spPr>
      </p:pic>
      <p:sp>
        <p:nvSpPr>
          <p:cNvPr id="125" name="Shape 102"/>
          <p:cNvSpPr/>
          <p:nvPr/>
        </p:nvSpPr>
        <p:spPr>
          <a:xfrm>
            <a:off x="17486376" y="27218640"/>
            <a:ext cx="1463040" cy="841248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EDF7EF"/>
            </a:solidFill>
            <a:prstDash val="solid"/>
          </a:ln>
        </p:spPr>
      </p:sp>
      <p:pic>
        <p:nvPicPr>
          <p:cNvPr id="126" name="Image 21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61864" y="27383232"/>
            <a:ext cx="438912" cy="438912"/>
          </a:xfrm>
          <a:prstGeom prst="rect">
            <a:avLst/>
          </a:prstGeom>
        </p:spPr>
      </p:pic>
      <p:sp>
        <p:nvSpPr>
          <p:cNvPr id="127" name="Shape 103"/>
          <p:cNvSpPr/>
          <p:nvPr/>
        </p:nvSpPr>
        <p:spPr>
          <a:xfrm>
            <a:off x="20223480" y="5501640"/>
            <a:ext cx="9549384" cy="7772400"/>
          </a:xfrm>
          <a:prstGeom prst="roundRect">
            <a:avLst>
              <a:gd name="adj" fmla="val 2746"/>
            </a:avLst>
          </a:prstGeom>
          <a:solidFill>
            <a:srgbClr val="FFFFFF"/>
          </a:solidFill>
          <a:ln w="14605">
            <a:solidFill>
              <a:srgbClr val="C7B6E4"/>
            </a:solidFill>
            <a:prstDash val="solid"/>
          </a:ln>
        </p:spPr>
      </p:sp>
      <p:sp>
        <p:nvSpPr>
          <p:cNvPr id="128" name="Shape 104"/>
          <p:cNvSpPr/>
          <p:nvPr/>
        </p:nvSpPr>
        <p:spPr>
          <a:xfrm>
            <a:off x="20333208" y="5629656"/>
            <a:ext cx="9329928" cy="1060704"/>
          </a:xfrm>
          <a:prstGeom prst="roundRect">
            <a:avLst/>
          </a:prstGeom>
          <a:solidFill>
            <a:srgbClr val="F5F0FA"/>
          </a:solidFill>
          <a:ln w="6350">
            <a:solidFill>
              <a:srgbClr val="DDCFF0"/>
            </a:solidFill>
            <a:prstDash val="solid"/>
          </a:ln>
        </p:spPr>
      </p:sp>
      <p:sp>
        <p:nvSpPr>
          <p:cNvPr id="129" name="Shape 105"/>
          <p:cNvSpPr/>
          <p:nvPr/>
        </p:nvSpPr>
        <p:spPr>
          <a:xfrm>
            <a:off x="20452080" y="5757672"/>
            <a:ext cx="868680" cy="804672"/>
          </a:xfrm>
          <a:prstGeom prst="roundRect">
            <a:avLst/>
          </a:prstGeom>
          <a:solidFill>
            <a:srgbClr val="633EA0"/>
          </a:solidFill>
          <a:ln w="5080">
            <a:solidFill>
              <a:srgbClr val="633EA0"/>
            </a:solidFill>
            <a:prstDash val="solid"/>
          </a:ln>
        </p:spPr>
      </p:sp>
      <p:sp>
        <p:nvSpPr>
          <p:cNvPr id="130" name="Text 106"/>
          <p:cNvSpPr/>
          <p:nvPr/>
        </p:nvSpPr>
        <p:spPr>
          <a:xfrm>
            <a:off x="20479512" y="58765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3600" dirty="0"/>
          </a:p>
        </p:txBody>
      </p:sp>
      <p:sp>
        <p:nvSpPr>
          <p:cNvPr id="131" name="Text 107"/>
          <p:cNvSpPr/>
          <p:nvPr/>
        </p:nvSpPr>
        <p:spPr>
          <a:xfrm>
            <a:off x="21476208" y="58674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FEATURES / INNOVATION</a:t>
            </a:r>
            <a:endParaRPr lang="en-US" sz="3600" dirty="0"/>
          </a:p>
        </p:txBody>
      </p:sp>
      <p:pic>
        <p:nvPicPr>
          <p:cNvPr id="132" name="Image 22" descr="/mnt/data/icon_assets/star-o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867608" y="5812536"/>
            <a:ext cx="566928" cy="566928"/>
          </a:xfrm>
          <a:prstGeom prst="rect">
            <a:avLst/>
          </a:prstGeom>
        </p:spPr>
      </p:pic>
      <p:sp>
        <p:nvSpPr>
          <p:cNvPr id="133" name="Text 108"/>
          <p:cNvSpPr/>
          <p:nvPr/>
        </p:nvSpPr>
        <p:spPr>
          <a:xfrm>
            <a:off x="20589240" y="696468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your solution unique?</a:t>
            </a:r>
            <a:endParaRPr lang="en-US" sz="2400" dirty="0"/>
          </a:p>
        </p:txBody>
      </p:sp>
      <p:sp>
        <p:nvSpPr>
          <p:cNvPr id="134" name="Text 109"/>
          <p:cNvSpPr/>
          <p:nvPr/>
        </p:nvSpPr>
        <p:spPr>
          <a:xfrm>
            <a:off x="20680680" y="753160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35" name="Shape 110"/>
          <p:cNvSpPr/>
          <p:nvPr/>
        </p:nvSpPr>
        <p:spPr>
          <a:xfrm>
            <a:off x="21009864" y="776935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36" name="Text 111"/>
          <p:cNvSpPr/>
          <p:nvPr/>
        </p:nvSpPr>
        <p:spPr>
          <a:xfrm>
            <a:off x="20680680" y="809853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37" name="Shape 112"/>
          <p:cNvSpPr/>
          <p:nvPr/>
        </p:nvSpPr>
        <p:spPr>
          <a:xfrm>
            <a:off x="21009864" y="833628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38" name="Text 113"/>
          <p:cNvSpPr/>
          <p:nvPr/>
        </p:nvSpPr>
        <p:spPr>
          <a:xfrm>
            <a:off x="20680680" y="866546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39" name="Shape 114"/>
          <p:cNvSpPr/>
          <p:nvPr/>
        </p:nvSpPr>
        <p:spPr>
          <a:xfrm>
            <a:off x="21009864" y="890320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40" name="Text 115"/>
          <p:cNvSpPr/>
          <p:nvPr/>
        </p:nvSpPr>
        <p:spPr>
          <a:xfrm>
            <a:off x="20680680" y="923239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41" name="Shape 116"/>
          <p:cNvSpPr/>
          <p:nvPr/>
        </p:nvSpPr>
        <p:spPr>
          <a:xfrm>
            <a:off x="21009864" y="947013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42" name="Text 117"/>
          <p:cNvSpPr/>
          <p:nvPr/>
        </p:nvSpPr>
        <p:spPr>
          <a:xfrm>
            <a:off x="20680680" y="9799320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43" name="Shape 118"/>
          <p:cNvSpPr/>
          <p:nvPr/>
        </p:nvSpPr>
        <p:spPr>
          <a:xfrm>
            <a:off x="21009864" y="10037064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44" name="Shape 119"/>
          <p:cNvSpPr/>
          <p:nvPr/>
        </p:nvSpPr>
        <p:spPr>
          <a:xfrm>
            <a:off x="20680680" y="10805160"/>
            <a:ext cx="8634984" cy="2057400"/>
          </a:xfrm>
          <a:prstGeom prst="roundRect">
            <a:avLst/>
          </a:prstGeom>
          <a:solidFill>
            <a:srgbClr val="F5F0FA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145" name="Image 23" descr="/mnt/data/icon_assets/lightbulb-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07266" y="11113770"/>
            <a:ext cx="781812" cy="781812"/>
          </a:xfrm>
          <a:prstGeom prst="rect">
            <a:avLst/>
          </a:prstGeom>
        </p:spPr>
      </p:pic>
      <p:sp>
        <p:nvSpPr>
          <p:cNvPr id="146" name="Text 120"/>
          <p:cNvSpPr/>
          <p:nvPr/>
        </p:nvSpPr>
        <p:spPr>
          <a:xfrm>
            <a:off x="21000720" y="11957304"/>
            <a:ext cx="799490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key differentiators / unique value propositions</a:t>
            </a:r>
            <a:endParaRPr lang="en-US" sz="2400" dirty="0"/>
          </a:p>
        </p:txBody>
      </p:sp>
      <p:sp>
        <p:nvSpPr>
          <p:cNvPr id="147" name="Shape 121"/>
          <p:cNvSpPr/>
          <p:nvPr/>
        </p:nvSpPr>
        <p:spPr>
          <a:xfrm>
            <a:off x="20223480" y="13639800"/>
            <a:ext cx="9549384" cy="70408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4605">
            <a:solidFill>
              <a:srgbClr val="C7B6E4"/>
            </a:solidFill>
            <a:prstDash val="solid"/>
          </a:ln>
        </p:spPr>
      </p:sp>
      <p:sp>
        <p:nvSpPr>
          <p:cNvPr id="148" name="Shape 122"/>
          <p:cNvSpPr/>
          <p:nvPr/>
        </p:nvSpPr>
        <p:spPr>
          <a:xfrm>
            <a:off x="20333208" y="13767816"/>
            <a:ext cx="9329928" cy="1060704"/>
          </a:xfrm>
          <a:prstGeom prst="roundRect">
            <a:avLst/>
          </a:prstGeom>
          <a:solidFill>
            <a:srgbClr val="F5F0FA"/>
          </a:solidFill>
          <a:ln w="6350">
            <a:solidFill>
              <a:srgbClr val="DDCFF0"/>
            </a:solidFill>
            <a:prstDash val="solid"/>
          </a:ln>
        </p:spPr>
      </p:sp>
      <p:sp>
        <p:nvSpPr>
          <p:cNvPr id="149" name="Shape 123"/>
          <p:cNvSpPr/>
          <p:nvPr/>
        </p:nvSpPr>
        <p:spPr>
          <a:xfrm>
            <a:off x="20452080" y="13895832"/>
            <a:ext cx="868680" cy="804672"/>
          </a:xfrm>
          <a:prstGeom prst="roundRect">
            <a:avLst/>
          </a:prstGeom>
          <a:solidFill>
            <a:srgbClr val="633EA0"/>
          </a:solidFill>
          <a:ln w="5080">
            <a:solidFill>
              <a:srgbClr val="633EA0"/>
            </a:solidFill>
            <a:prstDash val="solid"/>
          </a:ln>
        </p:spPr>
      </p:sp>
      <p:sp>
        <p:nvSpPr>
          <p:cNvPr id="150" name="Text 124"/>
          <p:cNvSpPr/>
          <p:nvPr/>
        </p:nvSpPr>
        <p:spPr>
          <a:xfrm>
            <a:off x="20479512" y="1401470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3600" dirty="0"/>
          </a:p>
        </p:txBody>
      </p:sp>
      <p:sp>
        <p:nvSpPr>
          <p:cNvPr id="151" name="Text 125"/>
          <p:cNvSpPr/>
          <p:nvPr/>
        </p:nvSpPr>
        <p:spPr>
          <a:xfrm>
            <a:off x="21476208" y="1400556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 / IMPACT</a:t>
            </a:r>
            <a:endParaRPr lang="en-US" sz="3600" dirty="0"/>
          </a:p>
        </p:txBody>
      </p:sp>
      <p:pic>
        <p:nvPicPr>
          <p:cNvPr id="152" name="Image 24" descr="/mnt/data/icon_assets/glob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867608" y="13950696"/>
            <a:ext cx="566928" cy="566928"/>
          </a:xfrm>
          <a:prstGeom prst="rect">
            <a:avLst/>
          </a:prstGeom>
        </p:spPr>
      </p:pic>
      <p:sp>
        <p:nvSpPr>
          <p:cNvPr id="153" name="Text 126"/>
          <p:cNvSpPr/>
          <p:nvPr/>
        </p:nvSpPr>
        <p:spPr>
          <a:xfrm>
            <a:off x="20589240" y="1510284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can it be used? What impact will it create?</a:t>
            </a:r>
            <a:endParaRPr lang="en-US" sz="2400" dirty="0"/>
          </a:p>
        </p:txBody>
      </p:sp>
      <p:sp>
        <p:nvSpPr>
          <p:cNvPr id="154" name="Text 127"/>
          <p:cNvSpPr/>
          <p:nvPr/>
        </p:nvSpPr>
        <p:spPr>
          <a:xfrm>
            <a:off x="20680680" y="1566976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55" name="Shape 128"/>
          <p:cNvSpPr/>
          <p:nvPr/>
        </p:nvSpPr>
        <p:spPr>
          <a:xfrm>
            <a:off x="21009864" y="1590751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56" name="Text 129"/>
          <p:cNvSpPr/>
          <p:nvPr/>
        </p:nvSpPr>
        <p:spPr>
          <a:xfrm>
            <a:off x="20680680" y="1623669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57" name="Shape 130"/>
          <p:cNvSpPr/>
          <p:nvPr/>
        </p:nvSpPr>
        <p:spPr>
          <a:xfrm>
            <a:off x="21009864" y="1647444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58" name="Text 131"/>
          <p:cNvSpPr/>
          <p:nvPr/>
        </p:nvSpPr>
        <p:spPr>
          <a:xfrm>
            <a:off x="20680680" y="1680362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59" name="Shape 132"/>
          <p:cNvSpPr/>
          <p:nvPr/>
        </p:nvSpPr>
        <p:spPr>
          <a:xfrm>
            <a:off x="21009864" y="1704136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60" name="Text 133"/>
          <p:cNvSpPr/>
          <p:nvPr/>
        </p:nvSpPr>
        <p:spPr>
          <a:xfrm>
            <a:off x="20680680" y="1737055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61" name="Shape 134"/>
          <p:cNvSpPr/>
          <p:nvPr/>
        </p:nvSpPr>
        <p:spPr>
          <a:xfrm>
            <a:off x="21009864" y="1760829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62" name="Shape 135"/>
          <p:cNvSpPr/>
          <p:nvPr/>
        </p:nvSpPr>
        <p:spPr>
          <a:xfrm>
            <a:off x="20680680" y="18376392"/>
            <a:ext cx="8634984" cy="1892808"/>
          </a:xfrm>
          <a:prstGeom prst="roundRect">
            <a:avLst/>
          </a:prstGeom>
          <a:solidFill>
            <a:srgbClr val="F5F0FA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163" name="Image 25" descr="/mnt/data/icon_assets/user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38538" y="18660313"/>
            <a:ext cx="719267" cy="719267"/>
          </a:xfrm>
          <a:prstGeom prst="rect">
            <a:avLst/>
          </a:prstGeom>
        </p:spPr>
      </p:pic>
      <p:sp>
        <p:nvSpPr>
          <p:cNvPr id="164" name="Text 136"/>
          <p:cNvSpPr/>
          <p:nvPr/>
        </p:nvSpPr>
        <p:spPr>
          <a:xfrm>
            <a:off x="21000720" y="19436364"/>
            <a:ext cx="7994904" cy="5299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target users / sectors / social or industrial impact</a:t>
            </a:r>
            <a:endParaRPr lang="en-US" sz="2400" dirty="0"/>
          </a:p>
        </p:txBody>
      </p:sp>
      <p:sp>
        <p:nvSpPr>
          <p:cNvPr id="165" name="Shape 137"/>
          <p:cNvSpPr/>
          <p:nvPr/>
        </p:nvSpPr>
        <p:spPr>
          <a:xfrm>
            <a:off x="20223480" y="21046440"/>
            <a:ext cx="9549384" cy="7589520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 w="14605">
            <a:solidFill>
              <a:srgbClr val="C7B6E4"/>
            </a:solidFill>
            <a:prstDash val="solid"/>
          </a:ln>
        </p:spPr>
      </p:sp>
      <p:sp>
        <p:nvSpPr>
          <p:cNvPr id="166" name="Shape 138"/>
          <p:cNvSpPr/>
          <p:nvPr/>
        </p:nvSpPr>
        <p:spPr>
          <a:xfrm>
            <a:off x="20333208" y="21174456"/>
            <a:ext cx="9329928" cy="1060704"/>
          </a:xfrm>
          <a:prstGeom prst="roundRect">
            <a:avLst/>
          </a:prstGeom>
          <a:solidFill>
            <a:srgbClr val="F5F0FA"/>
          </a:solidFill>
          <a:ln w="6350">
            <a:solidFill>
              <a:srgbClr val="DDCFF0"/>
            </a:solidFill>
            <a:prstDash val="solid"/>
          </a:ln>
        </p:spPr>
      </p:sp>
      <p:sp>
        <p:nvSpPr>
          <p:cNvPr id="167" name="Shape 139"/>
          <p:cNvSpPr/>
          <p:nvPr/>
        </p:nvSpPr>
        <p:spPr>
          <a:xfrm>
            <a:off x="20452080" y="21302472"/>
            <a:ext cx="868680" cy="804672"/>
          </a:xfrm>
          <a:prstGeom prst="roundRect">
            <a:avLst/>
          </a:prstGeom>
          <a:solidFill>
            <a:srgbClr val="633EA0"/>
          </a:solidFill>
          <a:ln w="5080">
            <a:solidFill>
              <a:srgbClr val="633EA0"/>
            </a:solidFill>
            <a:prstDash val="solid"/>
          </a:ln>
        </p:spPr>
      </p:sp>
      <p:sp>
        <p:nvSpPr>
          <p:cNvPr id="168" name="Text 140"/>
          <p:cNvSpPr/>
          <p:nvPr/>
        </p:nvSpPr>
        <p:spPr>
          <a:xfrm>
            <a:off x="20479512" y="214213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3600" dirty="0"/>
          </a:p>
        </p:txBody>
      </p:sp>
      <p:sp>
        <p:nvSpPr>
          <p:cNvPr id="169" name="Text 141"/>
          <p:cNvSpPr/>
          <p:nvPr/>
        </p:nvSpPr>
        <p:spPr>
          <a:xfrm>
            <a:off x="21476208" y="214122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STATUS &amp; FUTURE PLAN</a:t>
            </a:r>
            <a:endParaRPr lang="en-US" sz="3600" dirty="0"/>
          </a:p>
        </p:txBody>
      </p:sp>
      <p:pic>
        <p:nvPicPr>
          <p:cNvPr id="170" name="Image 26" descr="/mnt/data/icon_assets/line-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67608" y="21357336"/>
            <a:ext cx="566928" cy="566928"/>
          </a:xfrm>
          <a:prstGeom prst="rect">
            <a:avLst/>
          </a:prstGeom>
        </p:spPr>
      </p:pic>
      <p:sp>
        <p:nvSpPr>
          <p:cNvPr id="171" name="Text 142"/>
          <p:cNvSpPr/>
          <p:nvPr/>
        </p:nvSpPr>
        <p:spPr>
          <a:xfrm>
            <a:off x="20589240" y="22564344"/>
            <a:ext cx="881786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are we now? What is next?</a:t>
            </a:r>
            <a:endParaRPr lang="en-US" sz="2400" dirty="0"/>
          </a:p>
        </p:txBody>
      </p:sp>
      <p:sp>
        <p:nvSpPr>
          <p:cNvPr id="172" name="Text 143"/>
          <p:cNvSpPr/>
          <p:nvPr/>
        </p:nvSpPr>
        <p:spPr>
          <a:xfrm>
            <a:off x="20680680" y="2303068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73" name="Shape 144"/>
          <p:cNvSpPr/>
          <p:nvPr/>
        </p:nvSpPr>
        <p:spPr>
          <a:xfrm>
            <a:off x="21009864" y="2326843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74" name="Text 145"/>
          <p:cNvSpPr/>
          <p:nvPr/>
        </p:nvSpPr>
        <p:spPr>
          <a:xfrm>
            <a:off x="20680680" y="2359761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75" name="Shape 146"/>
          <p:cNvSpPr/>
          <p:nvPr/>
        </p:nvSpPr>
        <p:spPr>
          <a:xfrm>
            <a:off x="21009864" y="2383536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76" name="Text 147"/>
          <p:cNvSpPr/>
          <p:nvPr/>
        </p:nvSpPr>
        <p:spPr>
          <a:xfrm>
            <a:off x="20680680" y="2416454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77" name="Shape 148"/>
          <p:cNvSpPr/>
          <p:nvPr/>
        </p:nvSpPr>
        <p:spPr>
          <a:xfrm>
            <a:off x="21009864" y="2440228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78" name="Text 149"/>
          <p:cNvSpPr/>
          <p:nvPr/>
        </p:nvSpPr>
        <p:spPr>
          <a:xfrm>
            <a:off x="20680680" y="2473147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79" name="Shape 150"/>
          <p:cNvSpPr/>
          <p:nvPr/>
        </p:nvSpPr>
        <p:spPr>
          <a:xfrm>
            <a:off x="21009864" y="2496921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180" name="Shape 151"/>
          <p:cNvSpPr/>
          <p:nvPr/>
        </p:nvSpPr>
        <p:spPr>
          <a:xfrm>
            <a:off x="21366480" y="26258520"/>
            <a:ext cx="932688" cy="932688"/>
          </a:xfrm>
          <a:prstGeom prst="roundRect">
            <a:avLst/>
          </a:prstGeom>
          <a:solidFill>
            <a:srgbClr val="F5F0FA"/>
          </a:solidFill>
          <a:ln w="12700">
            <a:solidFill>
              <a:srgbClr val="C7B6E4"/>
            </a:solidFill>
            <a:prstDash val="solid"/>
          </a:ln>
        </p:spPr>
      </p:sp>
      <p:pic>
        <p:nvPicPr>
          <p:cNvPr id="181" name="Image 27" descr="/mnt/data/icon_assets/rocke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595080" y="26450544"/>
            <a:ext cx="502920" cy="502920"/>
          </a:xfrm>
          <a:prstGeom prst="rect">
            <a:avLst/>
          </a:prstGeom>
        </p:spPr>
      </p:pic>
      <p:sp>
        <p:nvSpPr>
          <p:cNvPr id="182" name="Text 152"/>
          <p:cNvSpPr/>
          <p:nvPr/>
        </p:nvSpPr>
        <p:spPr>
          <a:xfrm>
            <a:off x="21229320" y="27282648"/>
            <a:ext cx="12070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2000" dirty="0"/>
          </a:p>
        </p:txBody>
      </p:sp>
      <p:sp>
        <p:nvSpPr>
          <p:cNvPr id="183" name="Text 153"/>
          <p:cNvSpPr/>
          <p:nvPr/>
        </p:nvSpPr>
        <p:spPr>
          <a:xfrm>
            <a:off x="22354032" y="26523696"/>
            <a:ext cx="822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184" name="Shape 154"/>
          <p:cNvSpPr/>
          <p:nvPr/>
        </p:nvSpPr>
        <p:spPr>
          <a:xfrm>
            <a:off x="24292560" y="26258520"/>
            <a:ext cx="932688" cy="932688"/>
          </a:xfrm>
          <a:prstGeom prst="roundRect">
            <a:avLst/>
          </a:prstGeom>
          <a:solidFill>
            <a:srgbClr val="F5F0FA"/>
          </a:solidFill>
          <a:ln w="12700">
            <a:solidFill>
              <a:srgbClr val="C7B6E4"/>
            </a:solidFill>
            <a:prstDash val="solid"/>
          </a:ln>
        </p:spPr>
      </p:sp>
      <p:pic>
        <p:nvPicPr>
          <p:cNvPr id="185" name="Image 28" descr="/mnt/data/icon_assets/flask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521160" y="26450544"/>
            <a:ext cx="502920" cy="502920"/>
          </a:xfrm>
          <a:prstGeom prst="rect">
            <a:avLst/>
          </a:prstGeom>
        </p:spPr>
      </p:pic>
      <p:sp>
        <p:nvSpPr>
          <p:cNvPr id="186" name="Text 155"/>
          <p:cNvSpPr/>
          <p:nvPr/>
        </p:nvSpPr>
        <p:spPr>
          <a:xfrm>
            <a:off x="24155400" y="27282648"/>
            <a:ext cx="12070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2000" dirty="0"/>
          </a:p>
        </p:txBody>
      </p:sp>
      <p:sp>
        <p:nvSpPr>
          <p:cNvPr id="187" name="Text 156"/>
          <p:cNvSpPr/>
          <p:nvPr/>
        </p:nvSpPr>
        <p:spPr>
          <a:xfrm>
            <a:off x="25280112" y="26523696"/>
            <a:ext cx="822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188" name="Shape 157"/>
          <p:cNvSpPr/>
          <p:nvPr/>
        </p:nvSpPr>
        <p:spPr>
          <a:xfrm>
            <a:off x="27218640" y="26258520"/>
            <a:ext cx="932688" cy="932688"/>
          </a:xfrm>
          <a:prstGeom prst="roundRect">
            <a:avLst/>
          </a:prstGeom>
          <a:solidFill>
            <a:srgbClr val="F5F0FA"/>
          </a:solidFill>
          <a:ln w="12700">
            <a:solidFill>
              <a:srgbClr val="C7B6E4"/>
            </a:solidFill>
            <a:prstDash val="solid"/>
          </a:ln>
        </p:spPr>
      </p:sp>
      <p:pic>
        <p:nvPicPr>
          <p:cNvPr id="189" name="Image 29" descr="/mnt/data/icon_assets/flag-checker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47240" y="26450544"/>
            <a:ext cx="502920" cy="502920"/>
          </a:xfrm>
          <a:prstGeom prst="rect">
            <a:avLst/>
          </a:prstGeom>
        </p:spPr>
      </p:pic>
      <p:sp>
        <p:nvSpPr>
          <p:cNvPr id="190" name="Text 158"/>
          <p:cNvSpPr/>
          <p:nvPr/>
        </p:nvSpPr>
        <p:spPr>
          <a:xfrm>
            <a:off x="27081480" y="27282648"/>
            <a:ext cx="12070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2000" dirty="0"/>
          </a:p>
        </p:txBody>
      </p:sp>
      <p:sp>
        <p:nvSpPr>
          <p:cNvPr id="191" name="Shape 159"/>
          <p:cNvSpPr/>
          <p:nvPr/>
        </p:nvSpPr>
        <p:spPr>
          <a:xfrm>
            <a:off x="502920" y="36667440"/>
            <a:ext cx="1298448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EC2E8"/>
            </a:solidFill>
            <a:prstDash val="solid"/>
          </a:ln>
        </p:spPr>
      </p:sp>
      <p:sp>
        <p:nvSpPr>
          <p:cNvPr id="192" name="Shape 160"/>
          <p:cNvSpPr/>
          <p:nvPr/>
        </p:nvSpPr>
        <p:spPr>
          <a:xfrm>
            <a:off x="502920" y="36667440"/>
            <a:ext cx="12984480" cy="777240"/>
          </a:xfrm>
          <a:prstGeom prst="roundRect">
            <a:avLst/>
          </a:prstGeom>
          <a:solidFill>
            <a:srgbClr val="1B387D"/>
          </a:solidFill>
          <a:ln w="6350">
            <a:solidFill>
              <a:srgbClr val="1B387D"/>
            </a:solidFill>
            <a:prstDash val="solid"/>
          </a:ln>
        </p:spPr>
      </p:sp>
      <p:sp>
        <p:nvSpPr>
          <p:cNvPr id="193" name="Text 161"/>
          <p:cNvSpPr/>
          <p:nvPr/>
        </p:nvSpPr>
        <p:spPr>
          <a:xfrm>
            <a:off x="868680" y="36868608"/>
            <a:ext cx="5486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&amp; CONNECT</a:t>
            </a:r>
            <a:endParaRPr lang="en-US" sz="3200" dirty="0"/>
          </a:p>
        </p:txBody>
      </p:sp>
      <p:pic>
        <p:nvPicPr>
          <p:cNvPr id="194" name="Image 30" descr="/mnt/data/icon_assets/paper-plane-o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664440" y="36850320"/>
            <a:ext cx="438912" cy="438912"/>
          </a:xfrm>
          <a:prstGeom prst="rect">
            <a:avLst/>
          </a:prstGeom>
        </p:spPr>
      </p:pic>
      <p:pic>
        <p:nvPicPr>
          <p:cNvPr id="195" name="Image 31" descr="/mnt/data/icon_assets/glob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37783008"/>
            <a:ext cx="360000" cy="360000"/>
          </a:xfrm>
          <a:prstGeom prst="rect">
            <a:avLst/>
          </a:prstGeom>
        </p:spPr>
      </p:pic>
      <p:sp>
        <p:nvSpPr>
          <p:cNvPr id="196" name="Text 162"/>
          <p:cNvSpPr/>
          <p:nvPr/>
        </p:nvSpPr>
        <p:spPr>
          <a:xfrm>
            <a:off x="1325880" y="37810440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Website:</a:t>
            </a:r>
            <a:endParaRPr lang="en-US" sz="2400" dirty="0"/>
          </a:p>
        </p:txBody>
      </p:sp>
      <p:sp>
        <p:nvSpPr>
          <p:cNvPr id="197" name="Shape 163"/>
          <p:cNvSpPr/>
          <p:nvPr/>
        </p:nvSpPr>
        <p:spPr>
          <a:xfrm>
            <a:off x="2651760" y="37993320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pic>
        <p:nvPicPr>
          <p:cNvPr id="198" name="Image 32" descr="/mnt/data/icon_assets/linkedi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400" y="38349936"/>
            <a:ext cx="360000" cy="360000"/>
          </a:xfrm>
          <a:prstGeom prst="rect">
            <a:avLst/>
          </a:prstGeom>
        </p:spPr>
      </p:pic>
      <p:sp>
        <p:nvSpPr>
          <p:cNvPr id="199" name="Text 164"/>
          <p:cNvSpPr/>
          <p:nvPr/>
        </p:nvSpPr>
        <p:spPr>
          <a:xfrm>
            <a:off x="1325880" y="38377368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LinkedIn:</a:t>
            </a:r>
            <a:endParaRPr lang="en-US" sz="2400" dirty="0"/>
          </a:p>
        </p:txBody>
      </p:sp>
      <p:sp>
        <p:nvSpPr>
          <p:cNvPr id="200" name="Shape 165"/>
          <p:cNvSpPr/>
          <p:nvPr/>
        </p:nvSpPr>
        <p:spPr>
          <a:xfrm>
            <a:off x="2651760" y="38560248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pic>
        <p:nvPicPr>
          <p:cNvPr id="201" name="Image 33" descr="/mnt/data/icon_assets/envelop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4400" y="38916864"/>
            <a:ext cx="360000" cy="360000"/>
          </a:xfrm>
          <a:prstGeom prst="rect">
            <a:avLst/>
          </a:prstGeom>
        </p:spPr>
      </p:pic>
      <p:sp>
        <p:nvSpPr>
          <p:cNvPr id="202" name="Text 166"/>
          <p:cNvSpPr/>
          <p:nvPr/>
        </p:nvSpPr>
        <p:spPr>
          <a:xfrm>
            <a:off x="1325880" y="38944296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Email:</a:t>
            </a:r>
            <a:endParaRPr lang="en-US" sz="2400" dirty="0"/>
          </a:p>
        </p:txBody>
      </p:sp>
      <p:sp>
        <p:nvSpPr>
          <p:cNvPr id="203" name="Shape 167"/>
          <p:cNvSpPr/>
          <p:nvPr/>
        </p:nvSpPr>
        <p:spPr>
          <a:xfrm>
            <a:off x="2651760" y="39127176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pic>
        <p:nvPicPr>
          <p:cNvPr id="204" name="Image 34" descr="/mnt/data/icon_assets/phon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4400" y="39483792"/>
            <a:ext cx="360000" cy="360000"/>
          </a:xfrm>
          <a:prstGeom prst="rect">
            <a:avLst/>
          </a:prstGeom>
        </p:spPr>
      </p:pic>
      <p:sp>
        <p:nvSpPr>
          <p:cNvPr id="205" name="Text 168"/>
          <p:cNvSpPr/>
          <p:nvPr/>
        </p:nvSpPr>
        <p:spPr>
          <a:xfrm>
            <a:off x="1325880" y="39511224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Phone:</a:t>
            </a:r>
            <a:endParaRPr lang="en-US" sz="2400" dirty="0"/>
          </a:p>
        </p:txBody>
      </p:sp>
      <p:sp>
        <p:nvSpPr>
          <p:cNvPr id="206" name="Shape 169"/>
          <p:cNvSpPr/>
          <p:nvPr/>
        </p:nvSpPr>
        <p:spPr>
          <a:xfrm>
            <a:off x="2651760" y="39694104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pic>
        <p:nvPicPr>
          <p:cNvPr id="207" name="Image 35" descr="/mnt/data/icon_assets/map-m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050720"/>
            <a:ext cx="360000" cy="360000"/>
          </a:xfrm>
          <a:prstGeom prst="rect">
            <a:avLst/>
          </a:prstGeom>
        </p:spPr>
      </p:pic>
      <p:sp>
        <p:nvSpPr>
          <p:cNvPr id="208" name="Text 170"/>
          <p:cNvSpPr/>
          <p:nvPr/>
        </p:nvSpPr>
        <p:spPr>
          <a:xfrm>
            <a:off x="1325880" y="40078152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Address:</a:t>
            </a:r>
            <a:endParaRPr lang="en-US" sz="2400" dirty="0"/>
          </a:p>
        </p:txBody>
      </p:sp>
      <p:sp>
        <p:nvSpPr>
          <p:cNvPr id="209" name="Shape 171"/>
          <p:cNvSpPr/>
          <p:nvPr/>
        </p:nvSpPr>
        <p:spPr>
          <a:xfrm>
            <a:off x="2651760" y="40261032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210" name="Shape 172"/>
          <p:cNvSpPr/>
          <p:nvPr/>
        </p:nvSpPr>
        <p:spPr>
          <a:xfrm>
            <a:off x="9052560" y="37792152"/>
            <a:ext cx="3337560" cy="278892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211" name="Image 36" descr="/mnt/data/icon_assets/qrcod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95560" y="38001245"/>
            <a:ext cx="1051560" cy="1051560"/>
          </a:xfrm>
          <a:prstGeom prst="rect">
            <a:avLst/>
          </a:prstGeom>
        </p:spPr>
      </p:pic>
      <p:sp>
        <p:nvSpPr>
          <p:cNvPr id="212" name="Text 173"/>
          <p:cNvSpPr/>
          <p:nvPr/>
        </p:nvSpPr>
        <p:spPr>
          <a:xfrm>
            <a:off x="9372600" y="39353947"/>
            <a:ext cx="2697480" cy="7808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to know more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(product demo, website, video, etc.)</a:t>
            </a:r>
            <a:endParaRPr lang="en-US" sz="2000" dirty="0"/>
          </a:p>
        </p:txBody>
      </p:sp>
      <p:sp>
        <p:nvSpPr>
          <p:cNvPr id="213" name="Shape 174"/>
          <p:cNvSpPr/>
          <p:nvPr/>
        </p:nvSpPr>
        <p:spPr>
          <a:xfrm>
            <a:off x="13798296" y="36667440"/>
            <a:ext cx="15974568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EC2E8"/>
            </a:solidFill>
            <a:prstDash val="solid"/>
          </a:ln>
        </p:spPr>
      </p:sp>
      <p:sp>
        <p:nvSpPr>
          <p:cNvPr id="214" name="Shape 175"/>
          <p:cNvSpPr/>
          <p:nvPr/>
        </p:nvSpPr>
        <p:spPr>
          <a:xfrm>
            <a:off x="13798296" y="36667440"/>
            <a:ext cx="15974568" cy="777240"/>
          </a:xfrm>
          <a:prstGeom prst="roundRect">
            <a:avLst/>
          </a:prstGeom>
          <a:solidFill>
            <a:srgbClr val="1B387D"/>
          </a:solidFill>
          <a:ln w="6350">
            <a:solidFill>
              <a:srgbClr val="1B387D"/>
            </a:solidFill>
            <a:prstDash val="solid"/>
          </a:ln>
        </p:spPr>
      </p:sp>
      <p:sp>
        <p:nvSpPr>
          <p:cNvPr id="215" name="Text 176"/>
          <p:cNvSpPr/>
          <p:nvPr/>
        </p:nvSpPr>
        <p:spPr>
          <a:xfrm>
            <a:off x="14164056" y="36868608"/>
            <a:ext cx="4572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LOOKING FOR</a:t>
            </a:r>
            <a:endParaRPr lang="en-US" sz="3200" dirty="0"/>
          </a:p>
        </p:txBody>
      </p:sp>
      <p:pic>
        <p:nvPicPr>
          <p:cNvPr id="216" name="Image 37" descr="/mnt/data/icon_assets/handshake-o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8931616" y="36841176"/>
            <a:ext cx="502920" cy="502920"/>
          </a:xfrm>
          <a:prstGeom prst="rect">
            <a:avLst/>
          </a:prstGeom>
        </p:spPr>
      </p:pic>
      <p:pic>
        <p:nvPicPr>
          <p:cNvPr id="217" name="Image 38" descr="/mnt/data/icon_assets/university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456664" y="37874448"/>
            <a:ext cx="540000" cy="540000"/>
          </a:xfrm>
          <a:prstGeom prst="rect">
            <a:avLst/>
          </a:prstGeom>
        </p:spPr>
      </p:pic>
      <p:sp>
        <p:nvSpPr>
          <p:cNvPr id="218" name="Text 177"/>
          <p:cNvSpPr/>
          <p:nvPr/>
        </p:nvSpPr>
        <p:spPr>
          <a:xfrm>
            <a:off x="14987016" y="3796588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Industry Collaboration</a:t>
            </a:r>
            <a:endParaRPr lang="en-US" sz="2400" dirty="0"/>
          </a:p>
        </p:txBody>
      </p:sp>
      <p:pic>
        <p:nvPicPr>
          <p:cNvPr id="219" name="Image 39" descr="/mnt/data/icon_assets/dollar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456664" y="38834568"/>
            <a:ext cx="540000" cy="540000"/>
          </a:xfrm>
          <a:prstGeom prst="rect">
            <a:avLst/>
          </a:prstGeom>
        </p:spPr>
      </p:pic>
      <p:sp>
        <p:nvSpPr>
          <p:cNvPr id="220" name="Text 178"/>
          <p:cNvSpPr/>
          <p:nvPr/>
        </p:nvSpPr>
        <p:spPr>
          <a:xfrm>
            <a:off x="14987016" y="3892600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Investment / Funding</a:t>
            </a:r>
            <a:endParaRPr lang="en-US" sz="2400" dirty="0"/>
          </a:p>
        </p:txBody>
      </p:sp>
      <p:pic>
        <p:nvPicPr>
          <p:cNvPr id="221" name="Image 40" descr="/mnt/data/icon_assets/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56664" y="39794688"/>
            <a:ext cx="540000" cy="540000"/>
          </a:xfrm>
          <a:prstGeom prst="rect">
            <a:avLst/>
          </a:prstGeom>
        </p:spPr>
      </p:pic>
      <p:sp>
        <p:nvSpPr>
          <p:cNvPr id="222" name="Text 179"/>
          <p:cNvSpPr/>
          <p:nvPr/>
        </p:nvSpPr>
        <p:spPr>
          <a:xfrm>
            <a:off x="14987016" y="3988612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Mentorship</a:t>
            </a:r>
            <a:endParaRPr lang="en-US" sz="2400" dirty="0"/>
          </a:p>
        </p:txBody>
      </p:sp>
      <p:pic>
        <p:nvPicPr>
          <p:cNvPr id="223" name="Image 41" descr="/mnt/data/icon_assets/sitema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086064" y="37874448"/>
            <a:ext cx="540000" cy="540000"/>
          </a:xfrm>
          <a:prstGeom prst="rect">
            <a:avLst/>
          </a:prstGeom>
        </p:spPr>
      </p:pic>
      <p:sp>
        <p:nvSpPr>
          <p:cNvPr id="224" name="Text 180"/>
          <p:cNvSpPr/>
          <p:nvPr/>
        </p:nvSpPr>
        <p:spPr>
          <a:xfrm>
            <a:off x="21616416" y="3796588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Technology Partnership</a:t>
            </a:r>
            <a:endParaRPr lang="en-US" sz="2400" dirty="0"/>
          </a:p>
        </p:txBody>
      </p:sp>
      <p:pic>
        <p:nvPicPr>
          <p:cNvPr id="225" name="Image 42" descr="/mnt/data/icon_assets/rocke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086064" y="38834568"/>
            <a:ext cx="540000" cy="540000"/>
          </a:xfrm>
          <a:prstGeom prst="rect">
            <a:avLst/>
          </a:prstGeom>
        </p:spPr>
      </p:pic>
      <p:sp>
        <p:nvSpPr>
          <p:cNvPr id="226" name="Text 181"/>
          <p:cNvSpPr/>
          <p:nvPr/>
        </p:nvSpPr>
        <p:spPr>
          <a:xfrm>
            <a:off x="21616416" y="3892600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Pilot / Deployment Opportunities</a:t>
            </a:r>
            <a:endParaRPr lang="en-US" sz="2400" dirty="0"/>
          </a:p>
        </p:txBody>
      </p:sp>
      <p:pic>
        <p:nvPicPr>
          <p:cNvPr id="227" name="Image 43" descr="/mnt/data/icon_assets/user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86064" y="39794688"/>
            <a:ext cx="540000" cy="540000"/>
          </a:xfrm>
          <a:prstGeom prst="rect">
            <a:avLst/>
          </a:prstGeom>
        </p:spPr>
      </p:pic>
      <p:sp>
        <p:nvSpPr>
          <p:cNvPr id="228" name="Text 182"/>
          <p:cNvSpPr/>
          <p:nvPr/>
        </p:nvSpPr>
        <p:spPr>
          <a:xfrm>
            <a:off x="21616416" y="3988612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Talent / Internship</a:t>
            </a:r>
            <a:endParaRPr lang="en-US" sz="2400" dirty="0"/>
          </a:p>
        </p:txBody>
      </p:sp>
      <p:sp>
        <p:nvSpPr>
          <p:cNvPr id="229" name="Shape 183"/>
          <p:cNvSpPr/>
          <p:nvPr/>
        </p:nvSpPr>
        <p:spPr>
          <a:xfrm>
            <a:off x="0" y="42016680"/>
            <a:ext cx="30275784" cy="749808"/>
          </a:xfrm>
          <a:prstGeom prst="rect">
            <a:avLst/>
          </a:prstGeom>
          <a:solidFill>
            <a:srgbClr val="1B387D"/>
          </a:solidFill>
          <a:ln w="12700">
            <a:solidFill>
              <a:srgbClr val="1B387D"/>
            </a:solidFill>
            <a:prstDash val="solid"/>
          </a:ln>
        </p:spPr>
      </p:sp>
      <p:sp>
        <p:nvSpPr>
          <p:cNvPr id="230" name="Text 184"/>
          <p:cNvSpPr/>
          <p:nvPr/>
        </p:nvSpPr>
        <p:spPr>
          <a:xfrm>
            <a:off x="868680" y="42226992"/>
            <a:ext cx="6583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Innovate. Ignite. Impact.</a:t>
            </a:r>
            <a:endParaRPr lang="en-US" sz="2400" dirty="0"/>
          </a:p>
        </p:txBody>
      </p:sp>
      <p:sp>
        <p:nvSpPr>
          <p:cNvPr id="231" name="Text 185"/>
          <p:cNvSpPr/>
          <p:nvPr/>
        </p:nvSpPr>
        <p:spPr>
          <a:xfrm>
            <a:off x="7543800" y="42181272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endParaRPr lang="en-US" sz="3200" dirty="0"/>
          </a:p>
        </p:txBody>
      </p:sp>
      <p:sp>
        <p:nvSpPr>
          <p:cNvPr id="232" name="Text 186"/>
          <p:cNvSpPr/>
          <p:nvPr/>
        </p:nvSpPr>
        <p:spPr>
          <a:xfrm>
            <a:off x="8092440" y="42226992"/>
            <a:ext cx="1426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Ideas. Creating Impact. Empowering Tomorrow.</a:t>
            </a:r>
            <a:endParaRPr lang="en-US" sz="2400" dirty="0"/>
          </a:p>
        </p:txBody>
      </p:sp>
      <p:sp>
        <p:nvSpPr>
          <p:cNvPr id="233" name="Text 187"/>
          <p:cNvSpPr/>
          <p:nvPr/>
        </p:nvSpPr>
        <p:spPr>
          <a:xfrm>
            <a:off x="22475952" y="42181272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endParaRPr lang="en-US" sz="3200" dirty="0"/>
          </a:p>
        </p:txBody>
      </p:sp>
      <p:sp>
        <p:nvSpPr>
          <p:cNvPr id="234" name="Text 188"/>
          <p:cNvSpPr/>
          <p:nvPr/>
        </p:nvSpPr>
        <p:spPr>
          <a:xfrm>
            <a:off x="23774400" y="42226992"/>
            <a:ext cx="539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7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#YourTagLine</a:t>
            </a:r>
            <a:endParaRPr lang="en-US" sz="2400" dirty="0"/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FEC7BCB7-6C7F-CA50-7A03-F44E94B42B52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735454" y="273044"/>
            <a:ext cx="2296420" cy="2296420"/>
          </a:xfrm>
          <a:prstGeom prst="rect">
            <a:avLst/>
          </a:prstGeom>
        </p:spPr>
      </p:pic>
      <p:sp>
        <p:nvSpPr>
          <p:cNvPr id="250" name="Shape 0">
            <a:extLst>
              <a:ext uri="{FF2B5EF4-FFF2-40B4-BE49-F238E27FC236}">
                <a16:creationId xmlns:a16="http://schemas.microsoft.com/office/drawing/2014/main" id="{C5EA0B10-CA85-C802-74D5-BFA6F4797370}"/>
              </a:ext>
            </a:extLst>
          </p:cNvPr>
          <p:cNvSpPr/>
          <p:nvPr/>
        </p:nvSpPr>
        <p:spPr>
          <a:xfrm>
            <a:off x="-12763" y="4968575"/>
            <a:ext cx="30275784" cy="182880"/>
          </a:xfrm>
          <a:prstGeom prst="rect">
            <a:avLst/>
          </a:prstGeom>
          <a:solidFill>
            <a:srgbClr val="1B387D"/>
          </a:solidFill>
          <a:ln w="12700">
            <a:solidFill>
              <a:srgbClr val="2F3D56"/>
            </a:solidFill>
            <a:prstDash val="solid"/>
          </a:ln>
        </p:spPr>
      </p:sp>
      <p:cxnSp>
        <p:nvCxnSpPr>
          <p:cNvPr id="260" name="Connector 234">
            <a:extLst>
              <a:ext uri="{FF2B5EF4-FFF2-40B4-BE49-F238E27FC236}">
                <a16:creationId xmlns:a16="http://schemas.microsoft.com/office/drawing/2014/main" id="{9E3CE50E-CE9D-30D2-073E-F2952583D044}"/>
              </a:ext>
            </a:extLst>
          </p:cNvPr>
          <p:cNvCxnSpPr/>
          <p:nvPr/>
        </p:nvCxnSpPr>
        <p:spPr>
          <a:xfrm>
            <a:off x="502635" y="28897008"/>
            <a:ext cx="29269944" cy="0"/>
          </a:xfrm>
          <a:prstGeom prst="line">
            <a:avLst/>
          </a:prstGeom>
          <a:ln w="1270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Rounded Rectangle 235">
            <a:extLst>
              <a:ext uri="{FF2B5EF4-FFF2-40B4-BE49-F238E27FC236}">
                <a16:creationId xmlns:a16="http://schemas.microsoft.com/office/drawing/2014/main" id="{6DAFEDDE-86FE-66A8-D860-7CB1C99E25C2}"/>
              </a:ext>
            </a:extLst>
          </p:cNvPr>
          <p:cNvSpPr/>
          <p:nvPr/>
        </p:nvSpPr>
        <p:spPr>
          <a:xfrm>
            <a:off x="502635" y="29201808"/>
            <a:ext cx="9549384" cy="7221792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14604">
            <a:solidFill>
              <a:srgbClr val="AF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62" name="Rounded Rectangle 236">
            <a:extLst>
              <a:ext uri="{FF2B5EF4-FFF2-40B4-BE49-F238E27FC236}">
                <a16:creationId xmlns:a16="http://schemas.microsoft.com/office/drawing/2014/main" id="{B7DF72AB-9418-1514-D42E-F8DB2EFDE5FC}"/>
              </a:ext>
            </a:extLst>
          </p:cNvPr>
          <p:cNvSpPr/>
          <p:nvPr/>
        </p:nvSpPr>
        <p:spPr>
          <a:xfrm>
            <a:off x="612363" y="29311536"/>
            <a:ext cx="9329928" cy="713232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6350">
            <a:solidFill>
              <a:srgbClr val="EC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63" name="Rounded Rectangle 237">
            <a:extLst>
              <a:ext uri="{FF2B5EF4-FFF2-40B4-BE49-F238E27FC236}">
                <a16:creationId xmlns:a16="http://schemas.microsoft.com/office/drawing/2014/main" id="{07450AD7-3272-85A2-9DF4-8A3EB9CC5FF7}"/>
              </a:ext>
            </a:extLst>
          </p:cNvPr>
          <p:cNvSpPr/>
          <p:nvPr/>
        </p:nvSpPr>
        <p:spPr>
          <a:xfrm>
            <a:off x="685515" y="29384688"/>
            <a:ext cx="685800" cy="566928"/>
          </a:xfrm>
          <a:prstGeom prst="roundRect">
            <a:avLst>
              <a:gd name="adj" fmla="val 8000"/>
            </a:avLst>
          </a:prstGeom>
          <a:solidFill>
            <a:srgbClr val="1C58C3"/>
          </a:solidFill>
          <a:ln w="6350">
            <a:solidFill>
              <a:srgbClr val="1C5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64" name="TextBox 238">
            <a:extLst>
              <a:ext uri="{FF2B5EF4-FFF2-40B4-BE49-F238E27FC236}">
                <a16:creationId xmlns:a16="http://schemas.microsoft.com/office/drawing/2014/main" id="{CE4D0A60-CE08-ED8E-9D4C-708A0C90604F}"/>
              </a:ext>
            </a:extLst>
          </p:cNvPr>
          <p:cNvSpPr txBox="1"/>
          <p:nvPr/>
        </p:nvSpPr>
        <p:spPr>
          <a:xfrm>
            <a:off x="685515" y="29336068"/>
            <a:ext cx="685800" cy="600164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265" name="TextBox 239">
            <a:extLst>
              <a:ext uri="{FF2B5EF4-FFF2-40B4-BE49-F238E27FC236}">
                <a16:creationId xmlns:a16="http://schemas.microsoft.com/office/drawing/2014/main" id="{1818126D-5EC8-0596-64BB-688138FC4CAC}"/>
              </a:ext>
            </a:extLst>
          </p:cNvPr>
          <p:cNvSpPr txBox="1"/>
          <p:nvPr/>
        </p:nvSpPr>
        <p:spPr>
          <a:xfrm>
            <a:off x="1490187" y="29485272"/>
            <a:ext cx="7537704" cy="600164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600" b="1" dirty="0">
                <a:solidFill>
                  <a:srgbClr val="1C58C3"/>
                </a:solidFill>
                <a:latin typeface="Aptos"/>
              </a:rPr>
              <a:t>DEMO / SUPPORTING MATERIAL</a:t>
            </a:r>
          </a:p>
        </p:txBody>
      </p:sp>
      <p:pic>
        <p:nvPicPr>
          <p:cNvPr id="266" name="Picture 265">
            <a:extLst>
              <a:ext uri="{FF2B5EF4-FFF2-40B4-BE49-F238E27FC236}">
                <a16:creationId xmlns:a16="http://schemas.microsoft.com/office/drawing/2014/main" id="{E40C5CF5-D596-AD4C-64A5-7BD10C05A74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38787" y="29412120"/>
            <a:ext cx="411480" cy="411480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484C1620-5E94-3FD5-2B45-69E8AE56557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4115" y="30299088"/>
            <a:ext cx="360000" cy="360000"/>
          </a:xfrm>
          <a:prstGeom prst="rect">
            <a:avLst/>
          </a:prstGeom>
        </p:spPr>
      </p:pic>
      <p:sp>
        <p:nvSpPr>
          <p:cNvPr id="268" name="TextBox 242">
            <a:extLst>
              <a:ext uri="{FF2B5EF4-FFF2-40B4-BE49-F238E27FC236}">
                <a16:creationId xmlns:a16="http://schemas.microsoft.com/office/drawing/2014/main" id="{7200CF6C-B73B-F575-B2AA-24C964790989}"/>
              </a:ext>
            </a:extLst>
          </p:cNvPr>
          <p:cNvSpPr txBox="1"/>
          <p:nvPr/>
        </p:nvSpPr>
        <p:spPr>
          <a:xfrm>
            <a:off x="1261587" y="3028080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dirty="0">
                <a:solidFill>
                  <a:srgbClr val="232323"/>
                </a:solidFill>
                <a:latin typeface="Aptos"/>
              </a:rPr>
              <a:t>Demo video link:</a:t>
            </a:r>
          </a:p>
        </p:txBody>
      </p:sp>
      <p:cxnSp>
        <p:nvCxnSpPr>
          <p:cNvPr id="269" name="Connector 243">
            <a:extLst>
              <a:ext uri="{FF2B5EF4-FFF2-40B4-BE49-F238E27FC236}">
                <a16:creationId xmlns:a16="http://schemas.microsoft.com/office/drawing/2014/main" id="{0B06D751-4C05-55B0-870D-5402F6A62E54}"/>
              </a:ext>
            </a:extLst>
          </p:cNvPr>
          <p:cNvCxnSpPr/>
          <p:nvPr/>
        </p:nvCxnSpPr>
        <p:spPr>
          <a:xfrm>
            <a:off x="3776187" y="3048196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0" name="Picture 269">
            <a:extLst>
              <a:ext uri="{FF2B5EF4-FFF2-40B4-BE49-F238E27FC236}">
                <a16:creationId xmlns:a16="http://schemas.microsoft.com/office/drawing/2014/main" id="{D8667C80-537C-D1DF-0501-A4BD0C8CF91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4115" y="30829440"/>
            <a:ext cx="360000" cy="360000"/>
          </a:xfrm>
          <a:prstGeom prst="rect">
            <a:avLst/>
          </a:prstGeom>
        </p:spPr>
      </p:pic>
      <p:sp>
        <p:nvSpPr>
          <p:cNvPr id="271" name="TextBox 245">
            <a:extLst>
              <a:ext uri="{FF2B5EF4-FFF2-40B4-BE49-F238E27FC236}">
                <a16:creationId xmlns:a16="http://schemas.microsoft.com/office/drawing/2014/main" id="{3512DC5B-8709-5E7B-6C1B-10691C9BFE10}"/>
              </a:ext>
            </a:extLst>
          </p:cNvPr>
          <p:cNvSpPr txBox="1"/>
          <p:nvPr/>
        </p:nvSpPr>
        <p:spPr>
          <a:xfrm>
            <a:off x="1261587" y="30811152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Pitch deck link:</a:t>
            </a:r>
          </a:p>
        </p:txBody>
      </p:sp>
      <p:cxnSp>
        <p:nvCxnSpPr>
          <p:cNvPr id="272" name="Connector 246">
            <a:extLst>
              <a:ext uri="{FF2B5EF4-FFF2-40B4-BE49-F238E27FC236}">
                <a16:creationId xmlns:a16="http://schemas.microsoft.com/office/drawing/2014/main" id="{CA84B74E-EA41-176C-6EE6-6D553A2CDF3B}"/>
              </a:ext>
            </a:extLst>
          </p:cNvPr>
          <p:cNvCxnSpPr/>
          <p:nvPr/>
        </p:nvCxnSpPr>
        <p:spPr>
          <a:xfrm>
            <a:off x="3776187" y="31012320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3" name="Picture 272">
            <a:extLst>
              <a:ext uri="{FF2B5EF4-FFF2-40B4-BE49-F238E27FC236}">
                <a16:creationId xmlns:a16="http://schemas.microsoft.com/office/drawing/2014/main" id="{70085F82-54DD-D3B1-F515-4834061057C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4115" y="31359792"/>
            <a:ext cx="360000" cy="360000"/>
          </a:xfrm>
          <a:prstGeom prst="rect">
            <a:avLst/>
          </a:prstGeom>
        </p:spPr>
      </p:pic>
      <p:sp>
        <p:nvSpPr>
          <p:cNvPr id="274" name="TextBox 248">
            <a:extLst>
              <a:ext uri="{FF2B5EF4-FFF2-40B4-BE49-F238E27FC236}">
                <a16:creationId xmlns:a16="http://schemas.microsoft.com/office/drawing/2014/main" id="{8CEB3D0D-B17A-2320-2AAB-D968C3EF81E5}"/>
              </a:ext>
            </a:extLst>
          </p:cNvPr>
          <p:cNvSpPr txBox="1"/>
          <p:nvPr/>
        </p:nvSpPr>
        <p:spPr>
          <a:xfrm>
            <a:off x="1261587" y="31341504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Product brochure:</a:t>
            </a:r>
          </a:p>
        </p:txBody>
      </p:sp>
      <p:cxnSp>
        <p:nvCxnSpPr>
          <p:cNvPr id="275" name="Connector 249">
            <a:extLst>
              <a:ext uri="{FF2B5EF4-FFF2-40B4-BE49-F238E27FC236}">
                <a16:creationId xmlns:a16="http://schemas.microsoft.com/office/drawing/2014/main" id="{DBEC9F33-1F3B-A2CE-A602-1866ADA93C03}"/>
              </a:ext>
            </a:extLst>
          </p:cNvPr>
          <p:cNvCxnSpPr/>
          <p:nvPr/>
        </p:nvCxnSpPr>
        <p:spPr>
          <a:xfrm>
            <a:off x="3776187" y="31542672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6" name="Picture 275">
            <a:extLst>
              <a:ext uri="{FF2B5EF4-FFF2-40B4-BE49-F238E27FC236}">
                <a16:creationId xmlns:a16="http://schemas.microsoft.com/office/drawing/2014/main" id="{E356F765-8AC9-1709-1BD6-38ACBBA49EB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115" y="31890144"/>
            <a:ext cx="360000" cy="360000"/>
          </a:xfrm>
          <a:prstGeom prst="rect">
            <a:avLst/>
          </a:prstGeom>
        </p:spPr>
      </p:pic>
      <p:sp>
        <p:nvSpPr>
          <p:cNvPr id="277" name="TextBox 251">
            <a:extLst>
              <a:ext uri="{FF2B5EF4-FFF2-40B4-BE49-F238E27FC236}">
                <a16:creationId xmlns:a16="http://schemas.microsoft.com/office/drawing/2014/main" id="{D9671F7D-1E75-AB8A-1DD1-1F29F4F97712}"/>
              </a:ext>
            </a:extLst>
          </p:cNvPr>
          <p:cNvSpPr txBox="1"/>
          <p:nvPr/>
        </p:nvSpPr>
        <p:spPr>
          <a:xfrm>
            <a:off x="1261587" y="31871856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Patent / paper:</a:t>
            </a:r>
          </a:p>
        </p:txBody>
      </p:sp>
      <p:cxnSp>
        <p:nvCxnSpPr>
          <p:cNvPr id="278" name="Connector 252">
            <a:extLst>
              <a:ext uri="{FF2B5EF4-FFF2-40B4-BE49-F238E27FC236}">
                <a16:creationId xmlns:a16="http://schemas.microsoft.com/office/drawing/2014/main" id="{852E4967-0E98-73B2-82B5-7955CBCD7F72}"/>
              </a:ext>
            </a:extLst>
          </p:cNvPr>
          <p:cNvCxnSpPr/>
          <p:nvPr/>
        </p:nvCxnSpPr>
        <p:spPr>
          <a:xfrm>
            <a:off x="3776187" y="32073024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9" name="Picture 278">
            <a:extLst>
              <a:ext uri="{FF2B5EF4-FFF2-40B4-BE49-F238E27FC236}">
                <a16:creationId xmlns:a16="http://schemas.microsoft.com/office/drawing/2014/main" id="{87C9DEE8-3A88-EAEE-602E-8DE4F48C5E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115" y="32420496"/>
            <a:ext cx="360000" cy="360000"/>
          </a:xfrm>
          <a:prstGeom prst="rect">
            <a:avLst/>
          </a:prstGeom>
        </p:spPr>
      </p:pic>
      <p:sp>
        <p:nvSpPr>
          <p:cNvPr id="280" name="TextBox 254">
            <a:extLst>
              <a:ext uri="{FF2B5EF4-FFF2-40B4-BE49-F238E27FC236}">
                <a16:creationId xmlns:a16="http://schemas.microsoft.com/office/drawing/2014/main" id="{A08E4144-F5AB-DBE5-3587-5FF8C7F28004}"/>
              </a:ext>
            </a:extLst>
          </p:cNvPr>
          <p:cNvSpPr txBox="1"/>
          <p:nvPr/>
        </p:nvSpPr>
        <p:spPr>
          <a:xfrm>
            <a:off x="1261587" y="32402208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Media coverage:</a:t>
            </a:r>
          </a:p>
        </p:txBody>
      </p:sp>
      <p:cxnSp>
        <p:nvCxnSpPr>
          <p:cNvPr id="281" name="Connector 255">
            <a:extLst>
              <a:ext uri="{FF2B5EF4-FFF2-40B4-BE49-F238E27FC236}">
                <a16:creationId xmlns:a16="http://schemas.microsoft.com/office/drawing/2014/main" id="{9A165656-0E20-61FD-3249-718C361AAE39}"/>
              </a:ext>
            </a:extLst>
          </p:cNvPr>
          <p:cNvCxnSpPr/>
          <p:nvPr/>
        </p:nvCxnSpPr>
        <p:spPr>
          <a:xfrm>
            <a:off x="3776187" y="32603376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2" name="Picture 281">
            <a:extLst>
              <a:ext uri="{FF2B5EF4-FFF2-40B4-BE49-F238E27FC236}">
                <a16:creationId xmlns:a16="http://schemas.microsoft.com/office/drawing/2014/main" id="{81E622CD-8715-6618-78D3-C21265009323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4115" y="32950848"/>
            <a:ext cx="360000" cy="360000"/>
          </a:xfrm>
          <a:prstGeom prst="rect">
            <a:avLst/>
          </a:prstGeom>
        </p:spPr>
      </p:pic>
      <p:sp>
        <p:nvSpPr>
          <p:cNvPr id="283" name="TextBox 257">
            <a:extLst>
              <a:ext uri="{FF2B5EF4-FFF2-40B4-BE49-F238E27FC236}">
                <a16:creationId xmlns:a16="http://schemas.microsoft.com/office/drawing/2014/main" id="{BBDD90B8-96BB-AA33-CEEC-92CAD53FBA5C}"/>
              </a:ext>
            </a:extLst>
          </p:cNvPr>
          <p:cNvSpPr txBox="1"/>
          <p:nvPr/>
        </p:nvSpPr>
        <p:spPr>
          <a:xfrm>
            <a:off x="1261587" y="3293256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Demo requirement:</a:t>
            </a:r>
          </a:p>
        </p:txBody>
      </p:sp>
      <p:cxnSp>
        <p:nvCxnSpPr>
          <p:cNvPr id="284" name="Connector 258">
            <a:extLst>
              <a:ext uri="{FF2B5EF4-FFF2-40B4-BE49-F238E27FC236}">
                <a16:creationId xmlns:a16="http://schemas.microsoft.com/office/drawing/2014/main" id="{47718A4E-B114-04CF-764D-A80D4C8EAB76}"/>
              </a:ext>
            </a:extLst>
          </p:cNvPr>
          <p:cNvCxnSpPr/>
          <p:nvPr/>
        </p:nvCxnSpPr>
        <p:spPr>
          <a:xfrm>
            <a:off x="3776187" y="3313372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Rounded Rectangle 259">
            <a:extLst>
              <a:ext uri="{FF2B5EF4-FFF2-40B4-BE49-F238E27FC236}">
                <a16:creationId xmlns:a16="http://schemas.microsoft.com/office/drawing/2014/main" id="{99EB3CC1-A655-9E03-44DE-08DBA9296FD9}"/>
              </a:ext>
            </a:extLst>
          </p:cNvPr>
          <p:cNvSpPr/>
          <p:nvPr/>
        </p:nvSpPr>
        <p:spPr>
          <a:xfrm>
            <a:off x="914115" y="34459608"/>
            <a:ext cx="8726424" cy="6858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6350">
            <a:solidFill>
              <a:srgbClr val="EC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86" name="TextBox 260">
            <a:extLst>
              <a:ext uri="{FF2B5EF4-FFF2-40B4-BE49-F238E27FC236}">
                <a16:creationId xmlns:a16="http://schemas.microsoft.com/office/drawing/2014/main" id="{16BCCA7E-41BA-9101-0AF7-C2739B18C83B}"/>
              </a:ext>
            </a:extLst>
          </p:cNvPr>
          <p:cNvSpPr txBox="1"/>
          <p:nvPr/>
        </p:nvSpPr>
        <p:spPr>
          <a:xfrm>
            <a:off x="1051275" y="34410094"/>
            <a:ext cx="8452104" cy="784830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0" dirty="0">
                <a:solidFill>
                  <a:srgbClr val="1C58C3"/>
                </a:solidFill>
                <a:latin typeface="Aptos"/>
              </a:rPr>
              <a:t>Add QR/link details for demo video, pitch deck, brochure, patent, or product page</a:t>
            </a:r>
          </a:p>
        </p:txBody>
      </p:sp>
      <p:sp>
        <p:nvSpPr>
          <p:cNvPr id="287" name="Rounded Rectangle 261">
            <a:extLst>
              <a:ext uri="{FF2B5EF4-FFF2-40B4-BE49-F238E27FC236}">
                <a16:creationId xmlns:a16="http://schemas.microsoft.com/office/drawing/2014/main" id="{3833E5F4-9241-C963-FCCA-7E84F0695BF8}"/>
              </a:ext>
            </a:extLst>
          </p:cNvPr>
          <p:cNvSpPr/>
          <p:nvPr/>
        </p:nvSpPr>
        <p:spPr>
          <a:xfrm>
            <a:off x="10362915" y="29201808"/>
            <a:ext cx="9549384" cy="7221792"/>
          </a:xfrm>
          <a:prstGeom prst="roundRect">
            <a:avLst>
              <a:gd name="adj" fmla="val 3031"/>
            </a:avLst>
          </a:prstGeom>
          <a:solidFill>
            <a:srgbClr val="FFFFFF"/>
          </a:solidFill>
          <a:ln w="14604">
            <a:solidFill>
              <a:srgbClr val="AF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88" name="Rounded Rectangle 262">
            <a:extLst>
              <a:ext uri="{FF2B5EF4-FFF2-40B4-BE49-F238E27FC236}">
                <a16:creationId xmlns:a16="http://schemas.microsoft.com/office/drawing/2014/main" id="{0D495BE3-7F17-6777-06BA-021131B98779}"/>
              </a:ext>
            </a:extLst>
          </p:cNvPr>
          <p:cNvSpPr/>
          <p:nvPr/>
        </p:nvSpPr>
        <p:spPr>
          <a:xfrm>
            <a:off x="10472643" y="29311536"/>
            <a:ext cx="9329928" cy="713232"/>
          </a:xfrm>
          <a:prstGeom prst="roundRect">
            <a:avLst>
              <a:gd name="adj" fmla="val 8000"/>
            </a:avLst>
          </a:prstGeom>
          <a:solidFill>
            <a:srgbClr val="EDF7EF"/>
          </a:solidFill>
          <a:ln w="6350">
            <a:solidFill>
              <a:srgbClr val="ED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89" name="Rounded Rectangle 263">
            <a:extLst>
              <a:ext uri="{FF2B5EF4-FFF2-40B4-BE49-F238E27FC236}">
                <a16:creationId xmlns:a16="http://schemas.microsoft.com/office/drawing/2014/main" id="{BF602268-1B25-4F8E-E591-7F4E073BAE40}"/>
              </a:ext>
            </a:extLst>
          </p:cNvPr>
          <p:cNvSpPr/>
          <p:nvPr/>
        </p:nvSpPr>
        <p:spPr>
          <a:xfrm>
            <a:off x="10545795" y="29384688"/>
            <a:ext cx="685800" cy="566928"/>
          </a:xfrm>
          <a:prstGeom prst="roundRect">
            <a:avLst>
              <a:gd name="adj" fmla="val 8000"/>
            </a:avLst>
          </a:prstGeom>
          <a:solidFill>
            <a:srgbClr val="1F804C"/>
          </a:solidFill>
          <a:ln w="6350">
            <a:solidFill>
              <a:srgbClr val="1F8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90" name="TextBox 264">
            <a:extLst>
              <a:ext uri="{FF2B5EF4-FFF2-40B4-BE49-F238E27FC236}">
                <a16:creationId xmlns:a16="http://schemas.microsoft.com/office/drawing/2014/main" id="{68D53A7C-AFCF-E4CE-421F-3AB568E424ED}"/>
              </a:ext>
            </a:extLst>
          </p:cNvPr>
          <p:cNvSpPr txBox="1"/>
          <p:nvPr/>
        </p:nvSpPr>
        <p:spPr>
          <a:xfrm>
            <a:off x="10545795" y="29336068"/>
            <a:ext cx="685800" cy="600164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91" name="TextBox 265">
            <a:extLst>
              <a:ext uri="{FF2B5EF4-FFF2-40B4-BE49-F238E27FC236}">
                <a16:creationId xmlns:a16="http://schemas.microsoft.com/office/drawing/2014/main" id="{253E9D45-E08E-B8AC-57B5-74253F02AC0C}"/>
              </a:ext>
            </a:extLst>
          </p:cNvPr>
          <p:cNvSpPr txBox="1"/>
          <p:nvPr/>
        </p:nvSpPr>
        <p:spPr>
          <a:xfrm>
            <a:off x="11350467" y="29485272"/>
            <a:ext cx="7537704" cy="600164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600" b="1" dirty="0">
                <a:solidFill>
                  <a:srgbClr val="1F804C"/>
                </a:solidFill>
                <a:latin typeface="Aptos"/>
              </a:rPr>
              <a:t>KEY METRICS / ACHIEVEMENTS</a:t>
            </a: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3AC4C748-EFD7-AB52-47C1-50FBE2FFB93A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9199067" y="29412120"/>
            <a:ext cx="411480" cy="411480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916CC616-0FBC-CE17-96C7-16294DF5E3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74395" y="30299088"/>
            <a:ext cx="360000" cy="360000"/>
          </a:xfrm>
          <a:prstGeom prst="rect">
            <a:avLst/>
          </a:prstGeom>
        </p:spPr>
      </p:pic>
      <p:sp>
        <p:nvSpPr>
          <p:cNvPr id="294" name="TextBox 268">
            <a:extLst>
              <a:ext uri="{FF2B5EF4-FFF2-40B4-BE49-F238E27FC236}">
                <a16:creationId xmlns:a16="http://schemas.microsoft.com/office/drawing/2014/main" id="{55BE89F2-CD61-127F-5F57-C92A7D25CE72}"/>
              </a:ext>
            </a:extLst>
          </p:cNvPr>
          <p:cNvSpPr txBox="1"/>
          <p:nvPr/>
        </p:nvSpPr>
        <p:spPr>
          <a:xfrm>
            <a:off x="11121867" y="3028080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dirty="0">
                <a:solidFill>
                  <a:srgbClr val="232323"/>
                </a:solidFill>
                <a:latin typeface="Aptos"/>
              </a:rPr>
              <a:t>Users / customers:</a:t>
            </a:r>
          </a:p>
        </p:txBody>
      </p:sp>
      <p:cxnSp>
        <p:nvCxnSpPr>
          <p:cNvPr id="295" name="Connector 269">
            <a:extLst>
              <a:ext uri="{FF2B5EF4-FFF2-40B4-BE49-F238E27FC236}">
                <a16:creationId xmlns:a16="http://schemas.microsoft.com/office/drawing/2014/main" id="{CA223605-CCC1-0000-44E2-2B295502101C}"/>
              </a:ext>
            </a:extLst>
          </p:cNvPr>
          <p:cNvCxnSpPr/>
          <p:nvPr/>
        </p:nvCxnSpPr>
        <p:spPr>
          <a:xfrm>
            <a:off x="13636467" y="3048196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6" name="Picture 295">
            <a:extLst>
              <a:ext uri="{FF2B5EF4-FFF2-40B4-BE49-F238E27FC236}">
                <a16:creationId xmlns:a16="http://schemas.microsoft.com/office/drawing/2014/main" id="{F601F7E8-EF50-BDCE-716A-5BCFC90F59C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74395" y="30829440"/>
            <a:ext cx="360000" cy="360000"/>
          </a:xfrm>
          <a:prstGeom prst="rect">
            <a:avLst/>
          </a:prstGeom>
        </p:spPr>
      </p:pic>
      <p:sp>
        <p:nvSpPr>
          <p:cNvPr id="297" name="TextBox 271">
            <a:extLst>
              <a:ext uri="{FF2B5EF4-FFF2-40B4-BE49-F238E27FC236}">
                <a16:creationId xmlns:a16="http://schemas.microsoft.com/office/drawing/2014/main" id="{9E52DC82-CE13-AE8D-CD2B-FA22215231F0}"/>
              </a:ext>
            </a:extLst>
          </p:cNvPr>
          <p:cNvSpPr txBox="1"/>
          <p:nvPr/>
        </p:nvSpPr>
        <p:spPr>
          <a:xfrm>
            <a:off x="11121867" y="30811152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Pilot / deployment:</a:t>
            </a:r>
          </a:p>
        </p:txBody>
      </p:sp>
      <p:cxnSp>
        <p:nvCxnSpPr>
          <p:cNvPr id="298" name="Connector 272">
            <a:extLst>
              <a:ext uri="{FF2B5EF4-FFF2-40B4-BE49-F238E27FC236}">
                <a16:creationId xmlns:a16="http://schemas.microsoft.com/office/drawing/2014/main" id="{118BD0DD-C1B5-8CA2-FEF3-F68D5147774E}"/>
              </a:ext>
            </a:extLst>
          </p:cNvPr>
          <p:cNvCxnSpPr/>
          <p:nvPr/>
        </p:nvCxnSpPr>
        <p:spPr>
          <a:xfrm>
            <a:off x="13636467" y="31012320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9" name="Picture 298">
            <a:extLst>
              <a:ext uri="{FF2B5EF4-FFF2-40B4-BE49-F238E27FC236}">
                <a16:creationId xmlns:a16="http://schemas.microsoft.com/office/drawing/2014/main" id="{69D3578D-B2CC-E8D8-92F7-A71A5777BAF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74395" y="31359792"/>
            <a:ext cx="360000" cy="360000"/>
          </a:xfrm>
          <a:prstGeom prst="rect">
            <a:avLst/>
          </a:prstGeom>
        </p:spPr>
      </p:pic>
      <p:sp>
        <p:nvSpPr>
          <p:cNvPr id="300" name="TextBox 274">
            <a:extLst>
              <a:ext uri="{FF2B5EF4-FFF2-40B4-BE49-F238E27FC236}">
                <a16:creationId xmlns:a16="http://schemas.microsoft.com/office/drawing/2014/main" id="{B0B1B247-14CF-BA9E-AC8E-80BEF307AE93}"/>
              </a:ext>
            </a:extLst>
          </p:cNvPr>
          <p:cNvSpPr txBox="1"/>
          <p:nvPr/>
        </p:nvSpPr>
        <p:spPr>
          <a:xfrm>
            <a:off x="11121867" y="31341504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Revenue / grant:</a:t>
            </a:r>
          </a:p>
        </p:txBody>
      </p:sp>
      <p:cxnSp>
        <p:nvCxnSpPr>
          <p:cNvPr id="301" name="Connector 275">
            <a:extLst>
              <a:ext uri="{FF2B5EF4-FFF2-40B4-BE49-F238E27FC236}">
                <a16:creationId xmlns:a16="http://schemas.microsoft.com/office/drawing/2014/main" id="{EB8E9FAA-7B96-B944-A1EB-373C9B22B882}"/>
              </a:ext>
            </a:extLst>
          </p:cNvPr>
          <p:cNvCxnSpPr/>
          <p:nvPr/>
        </p:nvCxnSpPr>
        <p:spPr>
          <a:xfrm>
            <a:off x="13636467" y="31542672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2" name="Picture 301">
            <a:extLst>
              <a:ext uri="{FF2B5EF4-FFF2-40B4-BE49-F238E27FC236}">
                <a16:creationId xmlns:a16="http://schemas.microsoft.com/office/drawing/2014/main" id="{2AEC9DAE-86F8-7A8F-29D0-970982DFE0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4395" y="31890144"/>
            <a:ext cx="360000" cy="360000"/>
          </a:xfrm>
          <a:prstGeom prst="rect">
            <a:avLst/>
          </a:prstGeom>
        </p:spPr>
      </p:pic>
      <p:sp>
        <p:nvSpPr>
          <p:cNvPr id="303" name="TextBox 277">
            <a:extLst>
              <a:ext uri="{FF2B5EF4-FFF2-40B4-BE49-F238E27FC236}">
                <a16:creationId xmlns:a16="http://schemas.microsoft.com/office/drawing/2014/main" id="{C8243601-40DB-B158-659C-838D82120A38}"/>
              </a:ext>
            </a:extLst>
          </p:cNvPr>
          <p:cNvSpPr txBox="1"/>
          <p:nvPr/>
        </p:nvSpPr>
        <p:spPr>
          <a:xfrm>
            <a:off x="11121867" y="31871856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TRL / stage:</a:t>
            </a:r>
          </a:p>
        </p:txBody>
      </p:sp>
      <p:cxnSp>
        <p:nvCxnSpPr>
          <p:cNvPr id="304" name="Connector 278">
            <a:extLst>
              <a:ext uri="{FF2B5EF4-FFF2-40B4-BE49-F238E27FC236}">
                <a16:creationId xmlns:a16="http://schemas.microsoft.com/office/drawing/2014/main" id="{E94FFF7A-89B6-C353-1507-AA268AEADF98}"/>
              </a:ext>
            </a:extLst>
          </p:cNvPr>
          <p:cNvCxnSpPr/>
          <p:nvPr/>
        </p:nvCxnSpPr>
        <p:spPr>
          <a:xfrm>
            <a:off x="13636467" y="32073024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5" name="Picture 304">
            <a:extLst>
              <a:ext uri="{FF2B5EF4-FFF2-40B4-BE49-F238E27FC236}">
                <a16:creationId xmlns:a16="http://schemas.microsoft.com/office/drawing/2014/main" id="{D42ED67D-14DF-7E5A-9399-A1A25F48C15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774395" y="32420496"/>
            <a:ext cx="360000" cy="360000"/>
          </a:xfrm>
          <a:prstGeom prst="rect">
            <a:avLst/>
          </a:prstGeom>
        </p:spPr>
      </p:pic>
      <p:sp>
        <p:nvSpPr>
          <p:cNvPr id="306" name="TextBox 280">
            <a:extLst>
              <a:ext uri="{FF2B5EF4-FFF2-40B4-BE49-F238E27FC236}">
                <a16:creationId xmlns:a16="http://schemas.microsoft.com/office/drawing/2014/main" id="{DF583ECE-3CF9-E8B7-0D6A-DB6726F5C41D}"/>
              </a:ext>
            </a:extLst>
          </p:cNvPr>
          <p:cNvSpPr txBox="1"/>
          <p:nvPr/>
        </p:nvSpPr>
        <p:spPr>
          <a:xfrm>
            <a:off x="11121867" y="32402208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Awards:</a:t>
            </a:r>
          </a:p>
        </p:txBody>
      </p:sp>
      <p:cxnSp>
        <p:nvCxnSpPr>
          <p:cNvPr id="307" name="Connector 281">
            <a:extLst>
              <a:ext uri="{FF2B5EF4-FFF2-40B4-BE49-F238E27FC236}">
                <a16:creationId xmlns:a16="http://schemas.microsoft.com/office/drawing/2014/main" id="{2B84BC68-0D60-5ABD-D6CF-798A6A637885}"/>
              </a:ext>
            </a:extLst>
          </p:cNvPr>
          <p:cNvCxnSpPr/>
          <p:nvPr/>
        </p:nvCxnSpPr>
        <p:spPr>
          <a:xfrm>
            <a:off x="13636467" y="32603376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8" name="Picture 307">
            <a:extLst>
              <a:ext uri="{FF2B5EF4-FFF2-40B4-BE49-F238E27FC236}">
                <a16:creationId xmlns:a16="http://schemas.microsoft.com/office/drawing/2014/main" id="{9817DE0C-F201-DE8B-5CD0-313EA2BB0451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774395" y="32950848"/>
            <a:ext cx="360000" cy="360000"/>
          </a:xfrm>
          <a:prstGeom prst="rect">
            <a:avLst/>
          </a:prstGeom>
        </p:spPr>
      </p:pic>
      <p:sp>
        <p:nvSpPr>
          <p:cNvPr id="309" name="TextBox 283">
            <a:extLst>
              <a:ext uri="{FF2B5EF4-FFF2-40B4-BE49-F238E27FC236}">
                <a16:creationId xmlns:a16="http://schemas.microsoft.com/office/drawing/2014/main" id="{CE906149-E224-7899-D703-98D357C5F4C2}"/>
              </a:ext>
            </a:extLst>
          </p:cNvPr>
          <p:cNvSpPr txBox="1"/>
          <p:nvPr/>
        </p:nvSpPr>
        <p:spPr>
          <a:xfrm>
            <a:off x="11121867" y="3293256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Validation data:</a:t>
            </a:r>
          </a:p>
        </p:txBody>
      </p:sp>
      <p:cxnSp>
        <p:nvCxnSpPr>
          <p:cNvPr id="310" name="Connector 284">
            <a:extLst>
              <a:ext uri="{FF2B5EF4-FFF2-40B4-BE49-F238E27FC236}">
                <a16:creationId xmlns:a16="http://schemas.microsoft.com/office/drawing/2014/main" id="{B3043DBC-2795-DA9C-49A9-484CF5F12227}"/>
              </a:ext>
            </a:extLst>
          </p:cNvPr>
          <p:cNvCxnSpPr/>
          <p:nvPr/>
        </p:nvCxnSpPr>
        <p:spPr>
          <a:xfrm>
            <a:off x="13636467" y="3313372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ounded Rectangle 285">
            <a:extLst>
              <a:ext uri="{FF2B5EF4-FFF2-40B4-BE49-F238E27FC236}">
                <a16:creationId xmlns:a16="http://schemas.microsoft.com/office/drawing/2014/main" id="{05180A30-DD01-069D-2861-2130651A3DDA}"/>
              </a:ext>
            </a:extLst>
          </p:cNvPr>
          <p:cNvSpPr/>
          <p:nvPr/>
        </p:nvSpPr>
        <p:spPr>
          <a:xfrm>
            <a:off x="10774395" y="34459608"/>
            <a:ext cx="8726424" cy="685800"/>
          </a:xfrm>
          <a:prstGeom prst="roundRect">
            <a:avLst>
              <a:gd name="adj" fmla="val 8000"/>
            </a:avLst>
          </a:prstGeom>
          <a:solidFill>
            <a:srgbClr val="EDF7EF"/>
          </a:solidFill>
          <a:ln w="6350">
            <a:solidFill>
              <a:srgbClr val="ED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12" name="TextBox 286">
            <a:extLst>
              <a:ext uri="{FF2B5EF4-FFF2-40B4-BE49-F238E27FC236}">
                <a16:creationId xmlns:a16="http://schemas.microsoft.com/office/drawing/2014/main" id="{B16C849F-51D1-B486-6812-74DEDD9E6A6D}"/>
              </a:ext>
            </a:extLst>
          </p:cNvPr>
          <p:cNvSpPr txBox="1"/>
          <p:nvPr/>
        </p:nvSpPr>
        <p:spPr>
          <a:xfrm>
            <a:off x="10911555" y="34410094"/>
            <a:ext cx="8452104" cy="784830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0" dirty="0">
                <a:solidFill>
                  <a:srgbClr val="1F804C"/>
                </a:solidFill>
                <a:latin typeface="Aptos"/>
              </a:rPr>
              <a:t>Mention only verified numbers, pilots, awards, publications, grants, or deployments</a:t>
            </a:r>
          </a:p>
        </p:txBody>
      </p:sp>
      <p:sp>
        <p:nvSpPr>
          <p:cNvPr id="313" name="Rounded Rectangle 287">
            <a:extLst>
              <a:ext uri="{FF2B5EF4-FFF2-40B4-BE49-F238E27FC236}">
                <a16:creationId xmlns:a16="http://schemas.microsoft.com/office/drawing/2014/main" id="{B79B679B-5E0C-336F-4526-EE8571959981}"/>
              </a:ext>
            </a:extLst>
          </p:cNvPr>
          <p:cNvSpPr/>
          <p:nvPr/>
        </p:nvSpPr>
        <p:spPr>
          <a:xfrm>
            <a:off x="20223195" y="29201808"/>
            <a:ext cx="9549384" cy="7221792"/>
          </a:xfrm>
          <a:prstGeom prst="roundRect">
            <a:avLst>
              <a:gd name="adj" fmla="val 3512"/>
            </a:avLst>
          </a:prstGeom>
          <a:solidFill>
            <a:srgbClr val="FFFFFF"/>
          </a:solidFill>
          <a:ln w="14604">
            <a:solidFill>
              <a:srgbClr val="AF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14" name="Rounded Rectangle 288">
            <a:extLst>
              <a:ext uri="{FF2B5EF4-FFF2-40B4-BE49-F238E27FC236}">
                <a16:creationId xmlns:a16="http://schemas.microsoft.com/office/drawing/2014/main" id="{85800BD5-8EB0-1E32-25E6-B153C41CFC47}"/>
              </a:ext>
            </a:extLst>
          </p:cNvPr>
          <p:cNvSpPr/>
          <p:nvPr/>
        </p:nvSpPr>
        <p:spPr>
          <a:xfrm>
            <a:off x="20332923" y="29311536"/>
            <a:ext cx="9329928" cy="713232"/>
          </a:xfrm>
          <a:prstGeom prst="roundRect">
            <a:avLst>
              <a:gd name="adj" fmla="val 8000"/>
            </a:avLst>
          </a:prstGeom>
          <a:solidFill>
            <a:srgbClr val="F5F0FA"/>
          </a:solidFill>
          <a:ln w="6350">
            <a:solidFill>
              <a:srgbClr val="F5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15" name="Rounded Rectangle 289">
            <a:extLst>
              <a:ext uri="{FF2B5EF4-FFF2-40B4-BE49-F238E27FC236}">
                <a16:creationId xmlns:a16="http://schemas.microsoft.com/office/drawing/2014/main" id="{CC3D33DF-90A7-1968-FA94-8DD27286376C}"/>
              </a:ext>
            </a:extLst>
          </p:cNvPr>
          <p:cNvSpPr/>
          <p:nvPr/>
        </p:nvSpPr>
        <p:spPr>
          <a:xfrm>
            <a:off x="20406075" y="29384688"/>
            <a:ext cx="685800" cy="566928"/>
          </a:xfrm>
          <a:prstGeom prst="roundRect">
            <a:avLst>
              <a:gd name="adj" fmla="val 8000"/>
            </a:avLst>
          </a:prstGeom>
          <a:solidFill>
            <a:srgbClr val="633EA0"/>
          </a:solidFill>
          <a:ln w="6350">
            <a:solidFill>
              <a:srgbClr val="633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16" name="TextBox 290">
            <a:extLst>
              <a:ext uri="{FF2B5EF4-FFF2-40B4-BE49-F238E27FC236}">
                <a16:creationId xmlns:a16="http://schemas.microsoft.com/office/drawing/2014/main" id="{7913D816-7A29-2E48-D63E-F2164DE97163}"/>
              </a:ext>
            </a:extLst>
          </p:cNvPr>
          <p:cNvSpPr txBox="1"/>
          <p:nvPr/>
        </p:nvSpPr>
        <p:spPr>
          <a:xfrm>
            <a:off x="20406075" y="29336068"/>
            <a:ext cx="685800" cy="600164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317" name="TextBox 291">
            <a:extLst>
              <a:ext uri="{FF2B5EF4-FFF2-40B4-BE49-F238E27FC236}">
                <a16:creationId xmlns:a16="http://schemas.microsoft.com/office/drawing/2014/main" id="{48ED9FA7-F9E6-281C-0E1A-10E7DD651381}"/>
              </a:ext>
            </a:extLst>
          </p:cNvPr>
          <p:cNvSpPr txBox="1"/>
          <p:nvPr/>
        </p:nvSpPr>
        <p:spPr>
          <a:xfrm>
            <a:off x="21210747" y="29485272"/>
            <a:ext cx="7537704" cy="600164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600" b="1" dirty="0">
                <a:solidFill>
                  <a:srgbClr val="633EA0"/>
                </a:solidFill>
                <a:latin typeface="Aptos"/>
              </a:rPr>
              <a:t>VISITOR NOTES / FOLLOW-UP</a:t>
            </a:r>
          </a:p>
        </p:txBody>
      </p:sp>
      <p:pic>
        <p:nvPicPr>
          <p:cNvPr id="318" name="Picture 317">
            <a:extLst>
              <a:ext uri="{FF2B5EF4-FFF2-40B4-BE49-F238E27FC236}">
                <a16:creationId xmlns:a16="http://schemas.microsoft.com/office/drawing/2014/main" id="{2C8694AA-22B7-1CEF-7AA9-AA19FCEF320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9059347" y="29412120"/>
            <a:ext cx="411480" cy="411480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E30964D4-562E-1F76-D9D6-20AC4C497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4675" y="30299088"/>
            <a:ext cx="360000" cy="360000"/>
          </a:xfrm>
          <a:prstGeom prst="rect">
            <a:avLst/>
          </a:prstGeom>
        </p:spPr>
      </p:pic>
      <p:sp>
        <p:nvSpPr>
          <p:cNvPr id="320" name="TextBox 294">
            <a:extLst>
              <a:ext uri="{FF2B5EF4-FFF2-40B4-BE49-F238E27FC236}">
                <a16:creationId xmlns:a16="http://schemas.microsoft.com/office/drawing/2014/main" id="{54AF6BD8-3D17-CD88-EC56-D7DB4C7C4ED2}"/>
              </a:ext>
            </a:extLst>
          </p:cNvPr>
          <p:cNvSpPr txBox="1"/>
          <p:nvPr/>
        </p:nvSpPr>
        <p:spPr>
          <a:xfrm>
            <a:off x="20982147" y="3028080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Visitor query:</a:t>
            </a:r>
          </a:p>
        </p:txBody>
      </p:sp>
      <p:cxnSp>
        <p:nvCxnSpPr>
          <p:cNvPr id="321" name="Connector 295">
            <a:extLst>
              <a:ext uri="{FF2B5EF4-FFF2-40B4-BE49-F238E27FC236}">
                <a16:creationId xmlns:a16="http://schemas.microsoft.com/office/drawing/2014/main" id="{9838653B-9385-26C6-3AA0-2CC9A236AD10}"/>
              </a:ext>
            </a:extLst>
          </p:cNvPr>
          <p:cNvCxnSpPr/>
          <p:nvPr/>
        </p:nvCxnSpPr>
        <p:spPr>
          <a:xfrm>
            <a:off x="23496747" y="3048196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2" name="Picture 321">
            <a:extLst>
              <a:ext uri="{FF2B5EF4-FFF2-40B4-BE49-F238E27FC236}">
                <a16:creationId xmlns:a16="http://schemas.microsoft.com/office/drawing/2014/main" id="{8145CD39-AE54-7CE2-3508-6CADE5B85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4675" y="30829440"/>
            <a:ext cx="360000" cy="360000"/>
          </a:xfrm>
          <a:prstGeom prst="rect">
            <a:avLst/>
          </a:prstGeom>
        </p:spPr>
      </p:pic>
      <p:sp>
        <p:nvSpPr>
          <p:cNvPr id="323" name="TextBox 297">
            <a:extLst>
              <a:ext uri="{FF2B5EF4-FFF2-40B4-BE49-F238E27FC236}">
                <a16:creationId xmlns:a16="http://schemas.microsoft.com/office/drawing/2014/main" id="{722B3315-B504-30BD-2EC3-100AE410ED6D}"/>
              </a:ext>
            </a:extLst>
          </p:cNvPr>
          <p:cNvSpPr txBox="1"/>
          <p:nvPr/>
        </p:nvSpPr>
        <p:spPr>
          <a:xfrm>
            <a:off x="20982147" y="30811152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Interested person:</a:t>
            </a:r>
          </a:p>
        </p:txBody>
      </p:sp>
      <p:cxnSp>
        <p:nvCxnSpPr>
          <p:cNvPr id="324" name="Connector 298">
            <a:extLst>
              <a:ext uri="{FF2B5EF4-FFF2-40B4-BE49-F238E27FC236}">
                <a16:creationId xmlns:a16="http://schemas.microsoft.com/office/drawing/2014/main" id="{F997A252-AD66-3A55-E79B-FEDE258B48DA}"/>
              </a:ext>
            </a:extLst>
          </p:cNvPr>
          <p:cNvCxnSpPr/>
          <p:nvPr/>
        </p:nvCxnSpPr>
        <p:spPr>
          <a:xfrm>
            <a:off x="23496747" y="31012320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5" name="Picture 324">
            <a:extLst>
              <a:ext uri="{FF2B5EF4-FFF2-40B4-BE49-F238E27FC236}">
                <a16:creationId xmlns:a16="http://schemas.microsoft.com/office/drawing/2014/main" id="{D70C5B87-661B-1EE0-8035-6A8DC51DE62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0634675" y="31359792"/>
            <a:ext cx="360000" cy="360000"/>
          </a:xfrm>
          <a:prstGeom prst="rect">
            <a:avLst/>
          </a:prstGeom>
        </p:spPr>
      </p:pic>
      <p:sp>
        <p:nvSpPr>
          <p:cNvPr id="326" name="TextBox 300">
            <a:extLst>
              <a:ext uri="{FF2B5EF4-FFF2-40B4-BE49-F238E27FC236}">
                <a16:creationId xmlns:a16="http://schemas.microsoft.com/office/drawing/2014/main" id="{1AEEC74A-8A8C-B821-5CC6-5D37687A7120}"/>
              </a:ext>
            </a:extLst>
          </p:cNvPr>
          <p:cNvSpPr txBox="1"/>
          <p:nvPr/>
        </p:nvSpPr>
        <p:spPr>
          <a:xfrm>
            <a:off x="20982147" y="31341504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Organization:</a:t>
            </a:r>
          </a:p>
        </p:txBody>
      </p:sp>
      <p:cxnSp>
        <p:nvCxnSpPr>
          <p:cNvPr id="327" name="Connector 301">
            <a:extLst>
              <a:ext uri="{FF2B5EF4-FFF2-40B4-BE49-F238E27FC236}">
                <a16:creationId xmlns:a16="http://schemas.microsoft.com/office/drawing/2014/main" id="{A7814F80-6937-8FF6-78B4-27CF375E864D}"/>
              </a:ext>
            </a:extLst>
          </p:cNvPr>
          <p:cNvCxnSpPr/>
          <p:nvPr/>
        </p:nvCxnSpPr>
        <p:spPr>
          <a:xfrm>
            <a:off x="23496747" y="31542672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8" name="Picture 327">
            <a:extLst>
              <a:ext uri="{FF2B5EF4-FFF2-40B4-BE49-F238E27FC236}">
                <a16:creationId xmlns:a16="http://schemas.microsoft.com/office/drawing/2014/main" id="{4BE2C666-FC4F-5CE3-C422-871A88787C4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634675" y="31890144"/>
            <a:ext cx="360000" cy="360000"/>
          </a:xfrm>
          <a:prstGeom prst="rect">
            <a:avLst/>
          </a:prstGeom>
        </p:spPr>
      </p:pic>
      <p:sp>
        <p:nvSpPr>
          <p:cNvPr id="329" name="TextBox 303">
            <a:extLst>
              <a:ext uri="{FF2B5EF4-FFF2-40B4-BE49-F238E27FC236}">
                <a16:creationId xmlns:a16="http://schemas.microsoft.com/office/drawing/2014/main" id="{A13BF3F0-3C3E-71CB-5DDE-ACC2E38D3D3C}"/>
              </a:ext>
            </a:extLst>
          </p:cNvPr>
          <p:cNvSpPr txBox="1"/>
          <p:nvPr/>
        </p:nvSpPr>
        <p:spPr>
          <a:xfrm>
            <a:off x="20982147" y="31871856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Contact:</a:t>
            </a:r>
          </a:p>
        </p:txBody>
      </p:sp>
      <p:cxnSp>
        <p:nvCxnSpPr>
          <p:cNvPr id="330" name="Connector 304">
            <a:extLst>
              <a:ext uri="{FF2B5EF4-FFF2-40B4-BE49-F238E27FC236}">
                <a16:creationId xmlns:a16="http://schemas.microsoft.com/office/drawing/2014/main" id="{440FF37A-1242-7BA7-C6CE-76F950B9150E}"/>
              </a:ext>
            </a:extLst>
          </p:cNvPr>
          <p:cNvCxnSpPr/>
          <p:nvPr/>
        </p:nvCxnSpPr>
        <p:spPr>
          <a:xfrm>
            <a:off x="23496747" y="32073024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1" name="Picture 330">
            <a:extLst>
              <a:ext uri="{FF2B5EF4-FFF2-40B4-BE49-F238E27FC236}">
                <a16:creationId xmlns:a16="http://schemas.microsoft.com/office/drawing/2014/main" id="{2F01C000-202C-D38B-4DD5-91A488D8BFD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634675" y="32420496"/>
            <a:ext cx="360000" cy="360000"/>
          </a:xfrm>
          <a:prstGeom prst="rect">
            <a:avLst/>
          </a:prstGeom>
        </p:spPr>
      </p:pic>
      <p:sp>
        <p:nvSpPr>
          <p:cNvPr id="332" name="TextBox 306">
            <a:extLst>
              <a:ext uri="{FF2B5EF4-FFF2-40B4-BE49-F238E27FC236}">
                <a16:creationId xmlns:a16="http://schemas.microsoft.com/office/drawing/2014/main" id="{15CBE529-E7DF-C6DE-2FA3-D59280D81D9D}"/>
              </a:ext>
            </a:extLst>
          </p:cNvPr>
          <p:cNvSpPr txBox="1"/>
          <p:nvPr/>
        </p:nvSpPr>
        <p:spPr>
          <a:xfrm>
            <a:off x="20982147" y="32402208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Follow-up action:</a:t>
            </a:r>
          </a:p>
        </p:txBody>
      </p:sp>
      <p:cxnSp>
        <p:nvCxnSpPr>
          <p:cNvPr id="333" name="Connector 307">
            <a:extLst>
              <a:ext uri="{FF2B5EF4-FFF2-40B4-BE49-F238E27FC236}">
                <a16:creationId xmlns:a16="http://schemas.microsoft.com/office/drawing/2014/main" id="{E0F21245-AB1A-E312-6438-A43BEDEB092D}"/>
              </a:ext>
            </a:extLst>
          </p:cNvPr>
          <p:cNvCxnSpPr/>
          <p:nvPr/>
        </p:nvCxnSpPr>
        <p:spPr>
          <a:xfrm>
            <a:off x="23496747" y="32603376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4" name="Picture 333">
            <a:extLst>
              <a:ext uri="{FF2B5EF4-FFF2-40B4-BE49-F238E27FC236}">
                <a16:creationId xmlns:a16="http://schemas.microsoft.com/office/drawing/2014/main" id="{FC3D68D7-3101-AD5D-3A40-DEE0AD2C563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0634675" y="32950848"/>
            <a:ext cx="360000" cy="360000"/>
          </a:xfrm>
          <a:prstGeom prst="rect">
            <a:avLst/>
          </a:prstGeom>
        </p:spPr>
      </p:pic>
      <p:sp>
        <p:nvSpPr>
          <p:cNvPr id="335" name="TextBox 309">
            <a:extLst>
              <a:ext uri="{FF2B5EF4-FFF2-40B4-BE49-F238E27FC236}">
                <a16:creationId xmlns:a16="http://schemas.microsoft.com/office/drawing/2014/main" id="{3854260B-E1D5-FBEF-E4AF-1B864615CA5A}"/>
              </a:ext>
            </a:extLst>
          </p:cNvPr>
          <p:cNvSpPr txBox="1"/>
          <p:nvPr/>
        </p:nvSpPr>
        <p:spPr>
          <a:xfrm>
            <a:off x="20982147" y="3293256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Remarks:</a:t>
            </a:r>
          </a:p>
        </p:txBody>
      </p:sp>
      <p:cxnSp>
        <p:nvCxnSpPr>
          <p:cNvPr id="336" name="Connector 310">
            <a:extLst>
              <a:ext uri="{FF2B5EF4-FFF2-40B4-BE49-F238E27FC236}">
                <a16:creationId xmlns:a16="http://schemas.microsoft.com/office/drawing/2014/main" id="{A9583B6F-DD46-C2A5-EF0D-095A15C59297}"/>
              </a:ext>
            </a:extLst>
          </p:cNvPr>
          <p:cNvCxnSpPr/>
          <p:nvPr/>
        </p:nvCxnSpPr>
        <p:spPr>
          <a:xfrm>
            <a:off x="23496747" y="3313372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Rounded Rectangle 311">
            <a:extLst>
              <a:ext uri="{FF2B5EF4-FFF2-40B4-BE49-F238E27FC236}">
                <a16:creationId xmlns:a16="http://schemas.microsoft.com/office/drawing/2014/main" id="{CBC8957B-8EFF-616B-CC6D-0430384B78F1}"/>
              </a:ext>
            </a:extLst>
          </p:cNvPr>
          <p:cNvSpPr/>
          <p:nvPr/>
        </p:nvSpPr>
        <p:spPr>
          <a:xfrm>
            <a:off x="20634675" y="34459608"/>
            <a:ext cx="8726424" cy="685800"/>
          </a:xfrm>
          <a:prstGeom prst="roundRect">
            <a:avLst>
              <a:gd name="adj" fmla="val 8000"/>
            </a:avLst>
          </a:prstGeom>
          <a:solidFill>
            <a:srgbClr val="F5F0FA"/>
          </a:solidFill>
          <a:ln w="6350">
            <a:solidFill>
              <a:srgbClr val="F5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38" name="TextBox 312">
            <a:extLst>
              <a:ext uri="{FF2B5EF4-FFF2-40B4-BE49-F238E27FC236}">
                <a16:creationId xmlns:a16="http://schemas.microsoft.com/office/drawing/2014/main" id="{8B321594-337B-5F9D-9B5C-F77A03287A7E}"/>
              </a:ext>
            </a:extLst>
          </p:cNvPr>
          <p:cNvSpPr txBox="1"/>
          <p:nvPr/>
        </p:nvSpPr>
        <p:spPr>
          <a:xfrm>
            <a:off x="20771835" y="34410094"/>
            <a:ext cx="8452104" cy="784830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0">
                <a:solidFill>
                  <a:srgbClr val="633EA0"/>
                </a:solidFill>
                <a:latin typeface="Aptos"/>
              </a:rPr>
              <a:t>Use this space during exhibition for interaction notes, leads, and follow-up 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710</Words>
  <Application>Microsoft Office PowerPoint</Application>
  <PresentationFormat>Custom</PresentationFormat>
  <Paragraphs>174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IIIT Allahabad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A0 Poster Template - Fully Editable with Icons</dc:title>
  <dc:subject>A0 startup exhibition poster template</dc:subject>
  <dc:creator>IIIT Allahabad</dc:creator>
  <cp:lastModifiedBy>Surya Prakash</cp:lastModifiedBy>
  <cp:revision>7</cp:revision>
  <dcterms:created xsi:type="dcterms:W3CDTF">2026-09-03T16:12:07Z</dcterms:created>
  <dcterms:modified xsi:type="dcterms:W3CDTF">2026-09-03T16:44:52Z</dcterms:modified>
</cp:coreProperties>
</file>